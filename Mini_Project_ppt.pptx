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21"/>
  </p:notesMasterIdLst>
  <p:sldIdLst>
    <p:sldId id="256" r:id="rId2"/>
    <p:sldId id="257" r:id="rId3"/>
    <p:sldId id="258" r:id="rId4"/>
    <p:sldId id="259" r:id="rId5"/>
    <p:sldId id="260" r:id="rId6"/>
    <p:sldId id="286" r:id="rId7"/>
    <p:sldId id="285" r:id="rId8"/>
    <p:sldId id="289" r:id="rId9"/>
    <p:sldId id="313" r:id="rId10"/>
    <p:sldId id="314" r:id="rId11"/>
    <p:sldId id="338" r:id="rId12"/>
    <p:sldId id="341" r:id="rId13"/>
    <p:sldId id="343" r:id="rId14"/>
    <p:sldId id="339" r:id="rId15"/>
    <p:sldId id="345" r:id="rId16"/>
    <p:sldId id="346" r:id="rId17"/>
    <p:sldId id="272" r:id="rId18"/>
    <p:sldId id="320" r:id="rId19"/>
    <p:sldId id="278" r:id="rId20"/>
  </p:sldIdLst>
  <p:sldSz cx="9144000" cy="6858000" type="screen4x3"/>
  <p:notesSz cx="6858000" cy="9144000"/>
  <p:embeddedFontLst>
    <p:embeddedFont>
      <p:font typeface="Constantia" panose="02030602050306030303" pitchFamily="18" charset="0"/>
      <p:regular r:id="rId22"/>
      <p:bold r:id="rId23"/>
      <p:italic r:id="rId24"/>
      <p:boldItalic r:id="rId25"/>
    </p:embeddedFont>
    <p:embeddedFont>
      <p:font typeface="Corbel" panose="020B0503020204020204" pitchFamily="34" charset="0"/>
      <p:regular r:id="rId26"/>
      <p:bold r:id="rId27"/>
      <p:italic r:id="rId28"/>
      <p:boldItalic r:id="rId2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165C67D-AD63-4676-A505-81800A66DF51}">
  <a:tblStyle styleId="{0165C67D-AD63-4676-A505-81800A66DF5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08" autoAdjust="0"/>
    <p:restoredTop sz="89189" autoAdjust="0"/>
  </p:normalViewPr>
  <p:slideViewPr>
    <p:cSldViewPr snapToGrid="0">
      <p:cViewPr varScale="1">
        <p:scale>
          <a:sx n="73" d="100"/>
          <a:sy n="73" d="100"/>
        </p:scale>
        <p:origin x="1589"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Arpana</a:t>
            </a:r>
            <a:endParaRPr dirty="0"/>
          </a:p>
        </p:txBody>
      </p:sp>
      <p:sp>
        <p:nvSpPr>
          <p:cNvPr id="123" name="Google Shape;123;p1: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4" name="Google Shape;124;p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dirty="0"/>
          </a:p>
        </p:txBody>
      </p:sp>
      <p:sp>
        <p:nvSpPr>
          <p:cNvPr id="125" name="Google Shape;125;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dirty="0"/>
          </a:p>
        </p:txBody>
      </p:sp>
      <p:sp>
        <p:nvSpPr>
          <p:cNvPr id="126" name="Google Shape;126;p1: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dirty="0"/>
              <a:t>04-12-2021</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ap</a:t>
            </a:r>
            <a:endParaRPr dirty="0"/>
          </a:p>
        </p:txBody>
      </p:sp>
      <p:sp>
        <p:nvSpPr>
          <p:cNvPr id="135" name="Google Shape;135;p2: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6" name="Google Shape;136;p2: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dirty="0"/>
          </a:p>
        </p:txBody>
      </p:sp>
      <p:sp>
        <p:nvSpPr>
          <p:cNvPr id="137" name="Google Shape;137;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dirty="0"/>
          </a:p>
        </p:txBody>
      </p:sp>
      <p:sp>
        <p:nvSpPr>
          <p:cNvPr id="138" name="Google Shape;138;p2: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dirty="0"/>
              <a:t>04-12-2021</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10647a0cf97_1_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g10647a0cf97_1_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Niha</a:t>
            </a:r>
            <a:endParaRPr dirty="0"/>
          </a:p>
        </p:txBody>
      </p:sp>
      <p:sp>
        <p:nvSpPr>
          <p:cNvPr id="148" name="Google Shape;148;g10647a0cf97_1_28: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9" name="Google Shape;149;g10647a0cf97_1_28: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dirty="0"/>
              <a:t>04-12-2021</a:t>
            </a:r>
            <a:endParaRPr dirty="0"/>
          </a:p>
        </p:txBody>
      </p:sp>
      <p:sp>
        <p:nvSpPr>
          <p:cNvPr id="150" name="Google Shape;150;g10647a0cf97_1_28: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dirty="0"/>
          </a:p>
        </p:txBody>
      </p:sp>
      <p:sp>
        <p:nvSpPr>
          <p:cNvPr id="151" name="Google Shape;151;g10647a0cf97_1_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10647a0cf97_1_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10647a0cf97_1_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Anusree</a:t>
            </a:r>
            <a:endParaRPr dirty="0"/>
          </a:p>
        </p:txBody>
      </p:sp>
      <p:sp>
        <p:nvSpPr>
          <p:cNvPr id="161" name="Google Shape;161;g10647a0cf97_1_8: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2" name="Google Shape;162;g10647a0cf97_1_8: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dirty="0"/>
              <a:t>04-12-2021</a:t>
            </a:r>
            <a:endParaRPr dirty="0"/>
          </a:p>
        </p:txBody>
      </p:sp>
      <p:sp>
        <p:nvSpPr>
          <p:cNvPr id="163" name="Google Shape;163;g10647a0cf97_1_8: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dirty="0"/>
          </a:p>
        </p:txBody>
      </p:sp>
      <p:sp>
        <p:nvSpPr>
          <p:cNvPr id="164" name="Google Shape;164;g10647a0cf97_1_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10647a0cf97_4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g10647a0cf97_4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Pooja</a:t>
            </a:r>
            <a:endParaRPr dirty="0"/>
          </a:p>
        </p:txBody>
      </p:sp>
      <p:sp>
        <p:nvSpPr>
          <p:cNvPr id="174" name="Google Shape;174;g10647a0cf97_4_0: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75" name="Google Shape;175;g10647a0cf97_4_0: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dirty="0"/>
              <a:t>04-12-2021</a:t>
            </a:r>
            <a:endParaRPr dirty="0"/>
          </a:p>
        </p:txBody>
      </p:sp>
      <p:sp>
        <p:nvSpPr>
          <p:cNvPr id="176" name="Google Shape;176;g10647a0cf97_4_0: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dirty="0"/>
          </a:p>
        </p:txBody>
      </p:sp>
      <p:sp>
        <p:nvSpPr>
          <p:cNvPr id="177" name="Google Shape;177;g10647a0cf97_4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10647a0cf97_4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g10647a0cf97_4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Pooja</a:t>
            </a:r>
            <a:endParaRPr dirty="0"/>
          </a:p>
        </p:txBody>
      </p:sp>
      <p:sp>
        <p:nvSpPr>
          <p:cNvPr id="174" name="Google Shape;174;g10647a0cf97_4_0: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75" name="Google Shape;175;g10647a0cf97_4_0: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dirty="0"/>
              <a:t>04-12-2021</a:t>
            </a:r>
            <a:endParaRPr dirty="0"/>
          </a:p>
        </p:txBody>
      </p:sp>
      <p:sp>
        <p:nvSpPr>
          <p:cNvPr id="176" name="Google Shape;176;g10647a0cf97_4_0: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dirty="0"/>
          </a:p>
        </p:txBody>
      </p:sp>
      <p:sp>
        <p:nvSpPr>
          <p:cNvPr id="177" name="Google Shape;177;g10647a0cf97_4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dirty="0"/>
          </a:p>
        </p:txBody>
      </p:sp>
    </p:spTree>
    <p:extLst>
      <p:ext uri="{BB962C8B-B14F-4D97-AF65-F5344CB8AC3E}">
        <p14:creationId xmlns:p14="http://schemas.microsoft.com/office/powerpoint/2010/main" val="38979063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10647a0cf97_4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g10647a0cf97_4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Pooja</a:t>
            </a:r>
            <a:endParaRPr dirty="0"/>
          </a:p>
        </p:txBody>
      </p:sp>
      <p:sp>
        <p:nvSpPr>
          <p:cNvPr id="174" name="Google Shape;174;g10647a0cf97_4_0: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75" name="Google Shape;175;g10647a0cf97_4_0: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dirty="0"/>
              <a:t>04-12-2021</a:t>
            </a:r>
            <a:endParaRPr dirty="0"/>
          </a:p>
        </p:txBody>
      </p:sp>
      <p:sp>
        <p:nvSpPr>
          <p:cNvPr id="176" name="Google Shape;176;g10647a0cf97_4_0: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dirty="0"/>
          </a:p>
        </p:txBody>
      </p:sp>
      <p:sp>
        <p:nvSpPr>
          <p:cNvPr id="177" name="Google Shape;177;g10647a0cf97_4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dirty="0"/>
          </a:p>
        </p:txBody>
      </p:sp>
    </p:spTree>
    <p:extLst>
      <p:ext uri="{BB962C8B-B14F-4D97-AF65-F5344CB8AC3E}">
        <p14:creationId xmlns:p14="http://schemas.microsoft.com/office/powerpoint/2010/main" val="12275595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10647a0cf97_4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g10647a0cf97_4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Pooja</a:t>
            </a:r>
            <a:endParaRPr dirty="0"/>
          </a:p>
        </p:txBody>
      </p:sp>
      <p:sp>
        <p:nvSpPr>
          <p:cNvPr id="174" name="Google Shape;174;g10647a0cf97_4_0: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75" name="Google Shape;175;g10647a0cf97_4_0: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dirty="0"/>
              <a:t>04-12-2021</a:t>
            </a:r>
            <a:endParaRPr dirty="0"/>
          </a:p>
        </p:txBody>
      </p:sp>
      <p:sp>
        <p:nvSpPr>
          <p:cNvPr id="176" name="Google Shape;176;g10647a0cf97_4_0: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dirty="0"/>
          </a:p>
        </p:txBody>
      </p:sp>
      <p:sp>
        <p:nvSpPr>
          <p:cNvPr id="177" name="Google Shape;177;g10647a0cf97_4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dirty="0"/>
          </a:p>
        </p:txBody>
      </p:sp>
    </p:spTree>
    <p:extLst>
      <p:ext uri="{BB962C8B-B14F-4D97-AF65-F5344CB8AC3E}">
        <p14:creationId xmlns:p14="http://schemas.microsoft.com/office/powerpoint/2010/main" val="26599930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15</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93542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1067bd076ef_3_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5" name="Google Shape;335;g1067bd076ef_3_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36" name="Google Shape;336;g1067bd076ef_3_37: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37" name="Google Shape;337;g1067bd076ef_3_37: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dirty="0"/>
              <a:t>04-12-2021</a:t>
            </a:r>
            <a:endParaRPr dirty="0"/>
          </a:p>
        </p:txBody>
      </p:sp>
      <p:sp>
        <p:nvSpPr>
          <p:cNvPr id="338" name="Google Shape;338;g1067bd076ef_3_37: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dirty="0"/>
          </a:p>
        </p:txBody>
      </p:sp>
      <p:sp>
        <p:nvSpPr>
          <p:cNvPr id="339" name="Google Shape;339;g1067bd076ef_3_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1067bd076ef_3_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5" name="Google Shape;335;g1067bd076ef_3_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36" name="Google Shape;336;g1067bd076ef_3_37: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37" name="Google Shape;337;g1067bd076ef_3_37: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dirty="0"/>
              <a:t>04-12-2021</a:t>
            </a:r>
            <a:endParaRPr dirty="0"/>
          </a:p>
        </p:txBody>
      </p:sp>
      <p:sp>
        <p:nvSpPr>
          <p:cNvPr id="338" name="Google Shape;338;g1067bd076ef_3_37: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dirty="0"/>
          </a:p>
        </p:txBody>
      </p:sp>
      <p:sp>
        <p:nvSpPr>
          <p:cNvPr id="339" name="Google Shape;339;g1067bd076ef_3_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dirty="0"/>
          </a:p>
        </p:txBody>
      </p:sp>
    </p:spTree>
    <p:extLst>
      <p:ext uri="{BB962C8B-B14F-4D97-AF65-F5344CB8AC3E}">
        <p14:creationId xmlns:p14="http://schemas.microsoft.com/office/powerpoint/2010/main" val="35893354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ap</a:t>
            </a:r>
            <a:endParaRPr dirty="0"/>
          </a:p>
        </p:txBody>
      </p:sp>
      <p:sp>
        <p:nvSpPr>
          <p:cNvPr id="413" name="Google Shape;41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endParaRPr lang="en-IN" dirty="0"/>
          </a:p>
        </p:txBody>
      </p:sp>
      <p:sp>
        <p:nvSpPr>
          <p:cNvPr id="5" name="Footer Placeholder 4"/>
          <p:cNvSpPr>
            <a:spLocks noGrp="1"/>
          </p:cNvSpPr>
          <p:nvPr>
            <p:ph type="ftr" sz="quarter" idx="11"/>
          </p:nvPr>
        </p:nvSpPr>
        <p:spPr>
          <a:xfrm>
            <a:off x="3623733" y="6117336"/>
            <a:ext cx="3609438" cy="365125"/>
          </a:xfrm>
        </p:spPr>
        <p:txBody>
          <a:bodyPr/>
          <a:lstStyle/>
          <a:p>
            <a:endParaRPr lang="en-IN" dirty="0"/>
          </a:p>
        </p:txBody>
      </p:sp>
      <p:sp>
        <p:nvSpPr>
          <p:cNvPr id="6" name="Slide Number Placeholder 5"/>
          <p:cNvSpPr>
            <a:spLocks noGrp="1"/>
          </p:cNvSpPr>
          <p:nvPr>
            <p:ph type="sldNum" sz="quarter" idx="12"/>
          </p:nvPr>
        </p:nvSpPr>
        <p:spPr>
          <a:xfrm>
            <a:off x="8275320" y="6117336"/>
            <a:ext cx="411480" cy="365125"/>
          </a:xfrm>
        </p:spPr>
        <p:txBody>
          <a:bodyPr/>
          <a:lstStyle/>
          <a:p>
            <a:pPr marL="0" lvl="0" indent="0" algn="ctr" rtl="0">
              <a:spcBef>
                <a:spcPts val="0"/>
              </a:spcBef>
              <a:spcAft>
                <a:spcPts val="0"/>
              </a:spcAft>
              <a:buNone/>
            </a:pPr>
            <a:fld id="{00000000-1234-1234-1234-123412341234}" type="slidenum">
              <a:rPr lang="en-US" smtClean="0"/>
              <a:t>‹#›</a:t>
            </a:fld>
            <a:endParaRPr lang="en-US" dirty="0"/>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3739738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endParaRPr lang="en-IN" dirty="0"/>
          </a:p>
        </p:txBody>
      </p:sp>
      <p:sp>
        <p:nvSpPr>
          <p:cNvPr id="5" name="Footer Placeholder 4"/>
          <p:cNvSpPr>
            <a:spLocks noGrp="1"/>
          </p:cNvSpPr>
          <p:nvPr>
            <p:ph type="ftr" sz="quarter" idx="11"/>
          </p:nvPr>
        </p:nvSpPr>
        <p:spPr>
          <a:xfrm>
            <a:off x="1972647" y="6108173"/>
            <a:ext cx="5314517" cy="365125"/>
          </a:xfrm>
        </p:spPr>
        <p:txBody>
          <a:bodyPr/>
          <a:lstStyle/>
          <a:p>
            <a:endParaRPr lang="en-IN" dirty="0"/>
          </a:p>
        </p:txBody>
      </p:sp>
      <p:sp>
        <p:nvSpPr>
          <p:cNvPr id="6" name="Slide Number Placeholder 5"/>
          <p:cNvSpPr>
            <a:spLocks noGrp="1"/>
          </p:cNvSpPr>
          <p:nvPr>
            <p:ph type="sldNum" sz="quarter" idx="12"/>
          </p:nvPr>
        </p:nvSpPr>
        <p:spPr>
          <a:xfrm>
            <a:off x="8258967" y="6108173"/>
            <a:ext cx="427833" cy="365125"/>
          </a:xfrm>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3821681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xfrm>
            <a:off x="8273317" y="6116070"/>
            <a:ext cx="413483" cy="365125"/>
          </a:xfrm>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3534902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2023586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23616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3466196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2437867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2773983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61059626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285609884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3041265326"/>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10712828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056665028"/>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15826060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2513195298"/>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9143310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2993414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endParaRPr lang="en-IN" dirty="0"/>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dirty="0"/>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21128119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3"/>
          <p:cNvSpPr txBox="1">
            <a:spLocks noGrp="1"/>
          </p:cNvSpPr>
          <p:nvPr>
            <p:ph type="ctrTitle"/>
          </p:nvPr>
        </p:nvSpPr>
        <p:spPr>
          <a:xfrm>
            <a:off x="1609456" y="686659"/>
            <a:ext cx="6069237" cy="1058100"/>
          </a:xfrm>
          <a:prstGeom prst="rect">
            <a:avLst/>
          </a:prstGeom>
          <a:noFill/>
          <a:ln>
            <a:noFill/>
          </a:ln>
        </p:spPr>
        <p:txBody>
          <a:bodyPr spcFirstLastPara="1" wrap="square" lIns="91425" tIns="45700" rIns="91425" bIns="45700" anchor="b" anchorCtr="0">
            <a:noAutofit/>
          </a:bodyPr>
          <a:lstStyle/>
          <a:p>
            <a:pPr algn="ctr"/>
            <a:r>
              <a:rPr lang="en-IN" sz="4000" b="1" dirty="0" err="1">
                <a:latin typeface="Times New Roman" panose="02020603050405020304" pitchFamily="18" charset="0"/>
                <a:cs typeface="Times New Roman" panose="02020603050405020304" pitchFamily="18" charset="0"/>
              </a:rPr>
              <a:t>DeepFake</a:t>
            </a:r>
            <a:r>
              <a:rPr lang="en-IN" sz="4000" b="1" dirty="0">
                <a:latin typeface="Times New Roman" panose="02020603050405020304" pitchFamily="18" charset="0"/>
                <a:cs typeface="Times New Roman" panose="02020603050405020304" pitchFamily="18" charset="0"/>
              </a:rPr>
              <a:t> Detection </a:t>
            </a:r>
            <a:endParaRPr lang="en-IN" sz="4000" dirty="0">
              <a:latin typeface="Times New Roman" panose="02020603050405020304" pitchFamily="18" charset="0"/>
              <a:cs typeface="Times New Roman" panose="02020603050405020304" pitchFamily="18" charset="0"/>
            </a:endParaRPr>
          </a:p>
        </p:txBody>
      </p:sp>
      <p:sp>
        <p:nvSpPr>
          <p:cNvPr id="129" name="Google Shape;129;p13"/>
          <p:cNvSpPr txBox="1">
            <a:spLocks noGrp="1"/>
          </p:cNvSpPr>
          <p:nvPr>
            <p:ph type="subTitle" idx="1"/>
          </p:nvPr>
        </p:nvSpPr>
        <p:spPr>
          <a:xfrm>
            <a:off x="1287001" y="2830725"/>
            <a:ext cx="6912900" cy="3312300"/>
          </a:xfrm>
          <a:prstGeom prst="rect">
            <a:avLst/>
          </a:prstGeom>
          <a:noFill/>
          <a:ln>
            <a:noFill/>
          </a:ln>
        </p:spPr>
        <p:txBody>
          <a:bodyPr spcFirstLastPara="1" wrap="square" lIns="91425" tIns="45700" rIns="91425" bIns="45700" anchor="t" anchorCtr="0">
            <a:normAutofit lnSpcReduction="10000"/>
          </a:bodyPr>
          <a:lstStyle/>
          <a:p>
            <a:pPr marL="0" lvl="0" indent="0" algn="ctr" rtl="0">
              <a:spcBef>
                <a:spcPts val="0"/>
              </a:spcBef>
              <a:spcAft>
                <a:spcPts val="0"/>
              </a:spcAft>
              <a:buSzPts val="2040"/>
              <a:buNone/>
            </a:pPr>
            <a:r>
              <a:rPr lang="en-US" sz="1800" dirty="0">
                <a:solidFill>
                  <a:srgbClr val="000000"/>
                </a:solidFill>
              </a:rPr>
              <a:t> </a:t>
            </a:r>
            <a:endParaRPr sz="1800" dirty="0">
              <a:solidFill>
                <a:srgbClr val="000000"/>
              </a:solidFill>
            </a:endParaRPr>
          </a:p>
          <a:p>
            <a:pPr marL="0" lvl="0" indent="0" algn="l" rtl="0">
              <a:spcBef>
                <a:spcPts val="0"/>
              </a:spcBef>
              <a:spcAft>
                <a:spcPts val="0"/>
              </a:spcAft>
              <a:buSzPts val="2040"/>
              <a:buNone/>
            </a:pPr>
            <a:r>
              <a:rPr lang="en-US" sz="1800" dirty="0">
                <a:solidFill>
                  <a:srgbClr val="000000"/>
                </a:solidFill>
              </a:rPr>
              <a:t>                       </a:t>
            </a:r>
            <a:endParaRPr sz="1800" dirty="0"/>
          </a:p>
          <a:p>
            <a:pPr marL="0" lvl="0" indent="0" algn="ctr" rtl="0">
              <a:spcBef>
                <a:spcPts val="480"/>
              </a:spcBef>
              <a:spcAft>
                <a:spcPts val="0"/>
              </a:spcAft>
              <a:buSzPts val="2040"/>
              <a:buNone/>
            </a:pPr>
            <a:endParaRPr sz="1800" dirty="0">
              <a:solidFill>
                <a:srgbClr val="000000"/>
              </a:solidFill>
            </a:endParaRPr>
          </a:p>
          <a:p>
            <a:pPr marL="0" lvl="0" indent="0" algn="l" rtl="0">
              <a:spcBef>
                <a:spcPts val="480"/>
              </a:spcBef>
              <a:spcAft>
                <a:spcPts val="0"/>
              </a:spcAft>
              <a:buSzPts val="2040"/>
              <a:buNone/>
            </a:pPr>
            <a:endParaRPr sz="1800" dirty="0">
              <a:solidFill>
                <a:srgbClr val="000000"/>
              </a:solidFill>
            </a:endParaRPr>
          </a:p>
          <a:p>
            <a:pPr marL="0" lvl="0" indent="0" algn="ctr" rtl="0">
              <a:spcBef>
                <a:spcPts val="480"/>
              </a:spcBef>
              <a:spcAft>
                <a:spcPts val="0"/>
              </a:spcAft>
              <a:buSzPts val="2040"/>
              <a:buNone/>
            </a:pPr>
            <a:endParaRPr sz="1800" dirty="0">
              <a:solidFill>
                <a:srgbClr val="000000"/>
              </a:solidFill>
            </a:endParaRPr>
          </a:p>
          <a:p>
            <a:pPr algn="ctr"/>
            <a:r>
              <a:rPr lang="en-IN" sz="1600" i="1" dirty="0">
                <a:latin typeface="Times New Roman" panose="02020603050405020304" pitchFamily="18" charset="0"/>
                <a:cs typeface="Times New Roman" panose="02020603050405020304" pitchFamily="18" charset="0"/>
              </a:rPr>
              <a:t>Under the Guidance of</a:t>
            </a:r>
          </a:p>
          <a:p>
            <a:pPr algn="ctr"/>
            <a:r>
              <a:rPr lang="en-IN" sz="1600" i="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Dr. Pallavi G B </a:t>
            </a:r>
          </a:p>
          <a:p>
            <a:pPr algn="ctr"/>
            <a:r>
              <a:rPr lang="en-IN" sz="1600" dirty="0">
                <a:latin typeface="Times New Roman" panose="02020603050405020304" pitchFamily="18" charset="0"/>
                <a:cs typeface="Times New Roman" panose="02020603050405020304" pitchFamily="18" charset="0"/>
              </a:rPr>
              <a:t>Professor, BMSCE </a:t>
            </a:r>
          </a:p>
          <a:p>
            <a:pPr marL="0" lvl="0" indent="0" algn="ctr" rtl="0">
              <a:spcBef>
                <a:spcPts val="480"/>
              </a:spcBef>
              <a:spcAft>
                <a:spcPts val="0"/>
              </a:spcAft>
              <a:buSzPts val="2040"/>
              <a:buNone/>
            </a:pPr>
            <a:r>
              <a:rPr lang="en-US" sz="1600" dirty="0">
                <a:solidFill>
                  <a:srgbClr val="000000"/>
                </a:solidFill>
                <a:latin typeface="Times New Roman"/>
                <a:ea typeface="Times New Roman"/>
                <a:cs typeface="Times New Roman"/>
                <a:sym typeface="Times New Roman"/>
              </a:rPr>
              <a:t>Department of Computer Science &amp; Engineering</a:t>
            </a:r>
            <a:endParaRPr sz="1600" dirty="0">
              <a:latin typeface="Times New Roman"/>
              <a:ea typeface="Times New Roman"/>
              <a:cs typeface="Times New Roman"/>
              <a:sym typeface="Times New Roman"/>
            </a:endParaRPr>
          </a:p>
          <a:p>
            <a:pPr marL="0" lvl="0" indent="0" algn="ctr" rtl="0">
              <a:spcBef>
                <a:spcPts val="480"/>
              </a:spcBef>
              <a:spcAft>
                <a:spcPts val="0"/>
              </a:spcAft>
              <a:buSzPts val="2040"/>
              <a:buNone/>
            </a:pPr>
            <a:r>
              <a:rPr lang="en-US" sz="1600" dirty="0">
                <a:solidFill>
                  <a:srgbClr val="000000"/>
                </a:solidFill>
                <a:latin typeface="Times New Roman"/>
                <a:ea typeface="Times New Roman"/>
                <a:cs typeface="Times New Roman"/>
                <a:sym typeface="Times New Roman"/>
              </a:rPr>
              <a:t>B.M.S. College of Engineering</a:t>
            </a:r>
            <a:endParaRPr sz="1600" dirty="0">
              <a:latin typeface="Times New Roman"/>
              <a:ea typeface="Times New Roman"/>
              <a:cs typeface="Times New Roman"/>
              <a:sym typeface="Times New Roman"/>
            </a:endParaRPr>
          </a:p>
        </p:txBody>
      </p:sp>
      <p:pic>
        <p:nvPicPr>
          <p:cNvPr id="130" name="Google Shape;130;p13"/>
          <p:cNvPicPr preferRelativeResize="0"/>
          <p:nvPr/>
        </p:nvPicPr>
        <p:blipFill rotWithShape="1">
          <a:blip r:embed="rId3">
            <a:alphaModFix/>
          </a:blip>
          <a:srcRect/>
          <a:stretch/>
        </p:blipFill>
        <p:spPr>
          <a:xfrm>
            <a:off x="7622575" y="476674"/>
            <a:ext cx="851975" cy="739035"/>
          </a:xfrm>
          <a:prstGeom prst="rect">
            <a:avLst/>
          </a:prstGeom>
          <a:noFill/>
          <a:ln>
            <a:noFill/>
          </a:ln>
        </p:spPr>
      </p:pic>
      <p:graphicFrame>
        <p:nvGraphicFramePr>
          <p:cNvPr id="131" name="Google Shape;131;p13"/>
          <p:cNvGraphicFramePr/>
          <p:nvPr>
            <p:extLst>
              <p:ext uri="{D42A27DB-BD31-4B8C-83A1-F6EECF244321}">
                <p14:modId xmlns:p14="http://schemas.microsoft.com/office/powerpoint/2010/main" val="3917106207"/>
              </p:ext>
            </p:extLst>
          </p:nvPr>
        </p:nvGraphicFramePr>
        <p:xfrm>
          <a:off x="1905521" y="2059705"/>
          <a:ext cx="1745713" cy="4023579"/>
        </p:xfrm>
        <a:graphic>
          <a:graphicData uri="http://schemas.openxmlformats.org/drawingml/2006/table">
            <a:tbl>
              <a:tblPr>
                <a:noFill/>
                <a:tableStyleId>{0165C67D-AD63-4676-A505-81800A66DF51}</a:tableStyleId>
              </a:tblPr>
              <a:tblGrid>
                <a:gridCol w="1745713">
                  <a:extLst>
                    <a:ext uri="{9D8B030D-6E8A-4147-A177-3AD203B41FA5}">
                      <a16:colId xmlns:a16="http://schemas.microsoft.com/office/drawing/2014/main" val="20000"/>
                    </a:ext>
                  </a:extLst>
                </a:gridCol>
              </a:tblGrid>
              <a:tr h="2180576">
                <a:tc>
                  <a:txBody>
                    <a:bodyPr/>
                    <a:lstStyle/>
                    <a:p>
                      <a:pPr marL="0" lvl="0" indent="0" algn="ctr" rtl="0">
                        <a:spcBef>
                          <a:spcPts val="0"/>
                        </a:spcBef>
                        <a:spcAft>
                          <a:spcPts val="0"/>
                        </a:spcAft>
                        <a:buNone/>
                      </a:pPr>
                      <a:r>
                        <a:rPr lang="en-US" sz="1600" dirty="0">
                          <a:latin typeface="Times New Roman"/>
                          <a:ea typeface="Times New Roman"/>
                          <a:cs typeface="Times New Roman"/>
                          <a:sym typeface="Times New Roman"/>
                        </a:rPr>
                        <a:t>Vinay G M</a:t>
                      </a:r>
                    </a:p>
                    <a:p>
                      <a:pPr marL="0" lvl="0" indent="0" algn="ctr" rtl="0">
                        <a:spcBef>
                          <a:spcPts val="0"/>
                        </a:spcBef>
                        <a:spcAft>
                          <a:spcPts val="0"/>
                        </a:spcAft>
                        <a:buNone/>
                      </a:pPr>
                      <a:r>
                        <a:rPr lang="en-US" sz="1600" dirty="0">
                          <a:latin typeface="Times New Roman"/>
                          <a:ea typeface="Times New Roman"/>
                          <a:cs typeface="Times New Roman"/>
                          <a:sym typeface="Times New Roman"/>
                        </a:rPr>
                        <a:t>1WA23CS044</a:t>
                      </a:r>
                    </a:p>
                    <a:p>
                      <a:pPr marL="0" lvl="0" indent="0" algn="ctr" rtl="0">
                        <a:spcBef>
                          <a:spcPts val="0"/>
                        </a:spcBef>
                        <a:spcAft>
                          <a:spcPts val="0"/>
                        </a:spcAft>
                        <a:buNone/>
                      </a:pPr>
                      <a:endParaRPr lang="en-US" sz="1600" dirty="0">
                        <a:latin typeface="Times New Roman"/>
                        <a:ea typeface="Times New Roman"/>
                        <a:cs typeface="Times New Roman"/>
                        <a:sym typeface="Times New Roman"/>
                      </a:endParaRPr>
                    </a:p>
                    <a:p>
                      <a:pPr marL="0" lvl="0" indent="0" algn="ctr" rtl="0">
                        <a:spcBef>
                          <a:spcPts val="0"/>
                        </a:spcBef>
                        <a:spcAft>
                          <a:spcPts val="0"/>
                        </a:spcAft>
                        <a:buNone/>
                      </a:pPr>
                      <a:r>
                        <a:rPr lang="en-US" sz="1600" dirty="0">
                          <a:latin typeface="Times New Roman"/>
                          <a:ea typeface="Times New Roman"/>
                          <a:cs typeface="Times New Roman"/>
                          <a:sym typeface="Times New Roman"/>
                        </a:rPr>
                        <a:t>Vikas P R</a:t>
                      </a:r>
                      <a:endParaRPr lang="en-US" sz="1600" baseline="0" dirty="0">
                        <a:latin typeface="Times New Roman"/>
                        <a:ea typeface="Times New Roman"/>
                        <a:cs typeface="Times New Roman"/>
                        <a:sym typeface="Times New Roman"/>
                      </a:endParaRPr>
                    </a:p>
                    <a:p>
                      <a:pPr marL="0" lvl="0" indent="0" algn="ctr" rtl="0">
                        <a:spcBef>
                          <a:spcPts val="0"/>
                        </a:spcBef>
                        <a:spcAft>
                          <a:spcPts val="0"/>
                        </a:spcAft>
                        <a:buNone/>
                      </a:pPr>
                      <a:r>
                        <a:rPr lang="en-US" sz="1600" baseline="0" dirty="0">
                          <a:latin typeface="Times New Roman"/>
                          <a:ea typeface="Times New Roman"/>
                          <a:cs typeface="Times New Roman"/>
                          <a:sym typeface="Times New Roman"/>
                        </a:rPr>
                        <a:t>1WA23CS042</a:t>
                      </a:r>
                      <a:endParaRPr lang="en-US" sz="1600" dirty="0">
                        <a:latin typeface="Times New Roman"/>
                        <a:ea typeface="Times New Roman"/>
                        <a:cs typeface="Times New Roman"/>
                        <a:sym typeface="Times New Roman"/>
                      </a:endParaRPr>
                    </a:p>
                    <a:p>
                      <a:pPr marL="0" lvl="0" indent="0" algn="ctr" rtl="0">
                        <a:spcBef>
                          <a:spcPts val="0"/>
                        </a:spcBef>
                        <a:spcAft>
                          <a:spcPts val="0"/>
                        </a:spcAft>
                        <a:buNone/>
                      </a:pPr>
                      <a:endParaRPr lang="en-US" sz="1600" dirty="0">
                        <a:latin typeface="Times New Roman"/>
                        <a:ea typeface="Times New Roman"/>
                        <a:cs typeface="Times New Roman"/>
                        <a:sym typeface="Times New Roman"/>
                      </a:endParaRPr>
                    </a:p>
                    <a:p>
                      <a:pPr marL="0" lvl="0" indent="0" algn="ctr" rtl="0">
                        <a:spcBef>
                          <a:spcPts val="0"/>
                        </a:spcBef>
                        <a:spcAft>
                          <a:spcPts val="0"/>
                        </a:spcAft>
                        <a:buNone/>
                      </a:pPr>
                      <a:r>
                        <a:rPr lang="en-US" sz="1600" dirty="0">
                          <a:latin typeface="Times New Roman"/>
                          <a:ea typeface="Times New Roman"/>
                          <a:cs typeface="Times New Roman"/>
                          <a:sym typeface="Times New Roman"/>
                        </a:rPr>
                        <a:t>Yashwanth S</a:t>
                      </a:r>
                    </a:p>
                    <a:p>
                      <a:pPr marL="0" lvl="0" indent="0" algn="ctr" rtl="0">
                        <a:spcBef>
                          <a:spcPts val="0"/>
                        </a:spcBef>
                        <a:spcAft>
                          <a:spcPts val="0"/>
                        </a:spcAft>
                        <a:buNone/>
                      </a:pPr>
                      <a:r>
                        <a:rPr lang="en-US" sz="1600" dirty="0">
                          <a:latin typeface="Times New Roman"/>
                          <a:ea typeface="Times New Roman"/>
                          <a:cs typeface="Times New Roman"/>
                          <a:sym typeface="Times New Roman"/>
                        </a:rPr>
                        <a:t>1WA23CS050</a:t>
                      </a:r>
                    </a:p>
                    <a:p>
                      <a:pPr marL="0" lvl="0" indent="0" algn="ctr" rtl="0">
                        <a:spcBef>
                          <a:spcPts val="0"/>
                        </a:spcBef>
                        <a:spcAft>
                          <a:spcPts val="0"/>
                        </a:spcAft>
                        <a:buNone/>
                      </a:pPr>
                      <a:endParaRPr lang="en-US" sz="1600" dirty="0">
                        <a:latin typeface="Times New Roman"/>
                        <a:ea typeface="Times New Roman"/>
                        <a:cs typeface="Times New Roman"/>
                        <a:sym typeface="Times New Roman"/>
                      </a:endParaRPr>
                    </a:p>
                    <a:p>
                      <a:pPr marL="0" lvl="0" indent="0" algn="ctr" rtl="0">
                        <a:spcBef>
                          <a:spcPts val="0"/>
                        </a:spcBef>
                        <a:spcAft>
                          <a:spcPts val="0"/>
                        </a:spcAft>
                        <a:buNone/>
                      </a:pPr>
                      <a:r>
                        <a:rPr lang="en-US" sz="1600" dirty="0">
                          <a:latin typeface="Times New Roman"/>
                          <a:ea typeface="Times New Roman"/>
                          <a:cs typeface="Times New Roman"/>
                          <a:sym typeface="Times New Roman"/>
                        </a:rPr>
                        <a:t>Yograj K H</a:t>
                      </a:r>
                    </a:p>
                    <a:p>
                      <a:pPr marL="0" lvl="0" indent="0" algn="ctr" rtl="0">
                        <a:spcBef>
                          <a:spcPts val="0"/>
                        </a:spcBef>
                        <a:spcAft>
                          <a:spcPts val="0"/>
                        </a:spcAft>
                        <a:buNone/>
                      </a:pPr>
                      <a:r>
                        <a:rPr lang="en-US" sz="1600" dirty="0">
                          <a:latin typeface="Times New Roman"/>
                          <a:ea typeface="Times New Roman"/>
                          <a:cs typeface="Times New Roman"/>
                          <a:sym typeface="Times New Roman"/>
                        </a:rPr>
                        <a:t>1WA23CS052</a:t>
                      </a:r>
                    </a:p>
                    <a:p>
                      <a:pPr marL="0" lvl="0" indent="0" algn="ctr" rtl="0">
                        <a:spcBef>
                          <a:spcPts val="0"/>
                        </a:spcBef>
                        <a:spcAft>
                          <a:spcPts val="0"/>
                        </a:spcAft>
                        <a:buNone/>
                      </a:pPr>
                      <a:endParaRPr lang="en-US" sz="1600" dirty="0">
                        <a:latin typeface="Times New Roman"/>
                        <a:ea typeface="Times New Roman"/>
                        <a:cs typeface="Times New Roman"/>
                        <a:sym typeface="Times New Roman"/>
                      </a:endParaRPr>
                    </a:p>
                    <a:p>
                      <a:pPr marL="0" lvl="0" indent="0" algn="ctr" rtl="0">
                        <a:spcBef>
                          <a:spcPts val="0"/>
                        </a:spcBef>
                        <a:spcAft>
                          <a:spcPts val="0"/>
                        </a:spcAft>
                        <a:buNone/>
                      </a:pPr>
                      <a:endParaRPr lang="en-US" sz="1600" dirty="0">
                        <a:latin typeface="Times New Roman"/>
                        <a:ea typeface="Times New Roman"/>
                        <a:cs typeface="Times New Roman"/>
                        <a:sym typeface="Times New Roman"/>
                      </a:endParaRPr>
                    </a:p>
                    <a:p>
                      <a:pPr marL="0" lvl="0" indent="0" algn="ctr" rtl="0">
                        <a:spcBef>
                          <a:spcPts val="0"/>
                        </a:spcBef>
                        <a:spcAft>
                          <a:spcPts val="0"/>
                        </a:spcAft>
                        <a:buNone/>
                      </a:pPr>
                      <a:endParaRPr lang="en-US" sz="1600"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426969">
                <a:tc>
                  <a:txBody>
                    <a:bodyPr/>
                    <a:lstStyle/>
                    <a:p>
                      <a:pPr marL="0" lvl="0" indent="0" algn="ctr" rtl="0">
                        <a:spcBef>
                          <a:spcPts val="0"/>
                        </a:spcBef>
                        <a:spcAft>
                          <a:spcPts val="0"/>
                        </a:spcAft>
                        <a:buNone/>
                      </a:pPr>
                      <a:endParaRPr sz="1600"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onstantia"/>
              <a:buNone/>
            </a:pPr>
            <a:r>
              <a:rPr lang="en-US" sz="2800" b="1" dirty="0">
                <a:latin typeface="Times New Roman" panose="02020603050405020304" pitchFamily="18" charset="0"/>
                <a:cs typeface="Times New Roman" panose="02020603050405020304" pitchFamily="18" charset="0"/>
              </a:rPr>
              <a:t>OUTLINE</a:t>
            </a:r>
            <a:endParaRPr sz="2800" b="1" dirty="0">
              <a:latin typeface="Times New Roman" panose="02020603050405020304" pitchFamily="18" charset="0"/>
              <a:cs typeface="Times New Roman" panose="02020603050405020304" pitchFamily="18" charset="0"/>
            </a:endParaRPr>
          </a:p>
        </p:txBody>
      </p:sp>
      <p:sp>
        <p:nvSpPr>
          <p:cNvPr id="141" name="Google Shape;141;p14"/>
          <p:cNvSpPr txBox="1">
            <a:spLocks noGrp="1"/>
          </p:cNvSpPr>
          <p:nvPr>
            <p:ph idx="1"/>
          </p:nvPr>
        </p:nvSpPr>
        <p:spPr>
          <a:xfrm>
            <a:off x="1791825" y="2080291"/>
            <a:ext cx="5830750" cy="4027881"/>
          </a:xfrm>
          <a:prstGeom prst="rect">
            <a:avLst/>
          </a:prstGeom>
          <a:noFill/>
          <a:ln>
            <a:noFill/>
          </a:ln>
        </p:spPr>
        <p:txBody>
          <a:bodyPr spcFirstLastPara="1" wrap="square" lIns="91425" tIns="45700" rIns="91425" bIns="45700" anchor="t" anchorCtr="0">
            <a:noAutofit/>
          </a:bodyPr>
          <a:lstStyle/>
          <a:p>
            <a:pPr marL="457200" lvl="0" indent="-429260" algn="just" rtl="0">
              <a:lnSpc>
                <a:spcPct val="170000"/>
              </a:lnSpc>
              <a:spcBef>
                <a:spcPts val="0"/>
              </a:spcBef>
              <a:spcAft>
                <a:spcPts val="0"/>
              </a:spcAft>
              <a:buSzPts val="1600"/>
              <a:buFont typeface="Times New Roman"/>
              <a:buAutoNum type="arabicPeriod"/>
            </a:pPr>
            <a:r>
              <a:rPr lang="en-US" sz="1600" dirty="0">
                <a:latin typeface="Times New Roman" panose="02020603050405020304" pitchFamily="18" charset="0"/>
                <a:ea typeface="Times New Roman"/>
                <a:cs typeface="Times New Roman" panose="02020603050405020304" pitchFamily="18" charset="0"/>
                <a:sym typeface="Times New Roman"/>
              </a:rPr>
              <a:t>Introduction </a:t>
            </a:r>
          </a:p>
          <a:p>
            <a:pPr marL="457200" lvl="0" indent="-429260" algn="just" rtl="0">
              <a:lnSpc>
                <a:spcPct val="170000"/>
              </a:lnSpc>
              <a:spcBef>
                <a:spcPts val="480"/>
              </a:spcBef>
              <a:spcAft>
                <a:spcPts val="0"/>
              </a:spcAft>
              <a:buSzPts val="1600"/>
              <a:buFont typeface="Times New Roman"/>
              <a:buAutoNum type="arabicPeriod"/>
            </a:pPr>
            <a:r>
              <a:rPr lang="en-US" sz="1600" dirty="0">
                <a:latin typeface="Times New Roman" panose="02020603050405020304" pitchFamily="18" charset="0"/>
                <a:ea typeface="Times New Roman"/>
                <a:cs typeface="Times New Roman" panose="02020603050405020304" pitchFamily="18" charset="0"/>
                <a:sym typeface="Times New Roman"/>
              </a:rPr>
              <a:t>Problem Statement</a:t>
            </a:r>
          </a:p>
          <a:p>
            <a:pPr marL="457200" lvl="0" indent="-429260" algn="just" rtl="0">
              <a:lnSpc>
                <a:spcPct val="170000"/>
              </a:lnSpc>
              <a:spcBef>
                <a:spcPts val="480"/>
              </a:spcBef>
              <a:spcAft>
                <a:spcPts val="0"/>
              </a:spcAft>
              <a:buSzPts val="1600"/>
              <a:buFont typeface="Times New Roman"/>
              <a:buAutoNum type="arabicPeriod"/>
            </a:pPr>
            <a:r>
              <a:rPr lang="en-US" sz="1600" dirty="0">
                <a:latin typeface="Times New Roman" panose="02020603050405020304" pitchFamily="18" charset="0"/>
                <a:ea typeface="Times New Roman"/>
                <a:cs typeface="Times New Roman" panose="02020603050405020304" pitchFamily="18" charset="0"/>
                <a:sym typeface="Times New Roman"/>
              </a:rPr>
              <a:t>Literature Survey </a:t>
            </a:r>
          </a:p>
          <a:p>
            <a:pPr marL="457200" lvl="0" indent="-429260" algn="just">
              <a:lnSpc>
                <a:spcPct val="170000"/>
              </a:lnSpc>
              <a:spcBef>
                <a:spcPts val="480"/>
              </a:spcBef>
              <a:spcAft>
                <a:spcPts val="0"/>
              </a:spcAft>
              <a:buSzPts val="1600"/>
              <a:buFont typeface="Times New Roman"/>
              <a:buAutoNum type="arabicPeriod"/>
            </a:pPr>
            <a:r>
              <a:rPr lang="en-US" sz="1600" dirty="0">
                <a:latin typeface="Times New Roman" panose="02020603050405020304" pitchFamily="18" charset="0"/>
                <a:ea typeface="Times New Roman"/>
                <a:cs typeface="Times New Roman" panose="02020603050405020304" pitchFamily="18" charset="0"/>
                <a:sym typeface="Times New Roman"/>
              </a:rPr>
              <a:t>Implementation</a:t>
            </a:r>
          </a:p>
          <a:p>
            <a:pPr marL="457200" lvl="0" indent="-429260" algn="just">
              <a:lnSpc>
                <a:spcPct val="170000"/>
              </a:lnSpc>
              <a:spcBef>
                <a:spcPts val="480"/>
              </a:spcBef>
              <a:spcAft>
                <a:spcPts val="0"/>
              </a:spcAft>
              <a:buSzPts val="1600"/>
              <a:buFont typeface="Times New Roman"/>
              <a:buAutoNum type="arabicPeriod"/>
            </a:pPr>
            <a:r>
              <a:rPr lang="en-US" sz="1600" dirty="0">
                <a:latin typeface="Times New Roman" panose="02020603050405020304" pitchFamily="18" charset="0"/>
                <a:ea typeface="Times New Roman"/>
                <a:cs typeface="Times New Roman" panose="02020603050405020304" pitchFamily="18" charset="0"/>
                <a:sym typeface="Times New Roman"/>
              </a:rPr>
              <a:t>Dataset Overview</a:t>
            </a:r>
          </a:p>
          <a:p>
            <a:pPr marL="457200" lvl="0" indent="-429260" algn="just">
              <a:lnSpc>
                <a:spcPct val="170000"/>
              </a:lnSpc>
              <a:spcBef>
                <a:spcPts val="480"/>
              </a:spcBef>
              <a:spcAft>
                <a:spcPts val="0"/>
              </a:spcAft>
              <a:buSzPts val="1600"/>
              <a:buFont typeface="Times New Roman"/>
              <a:buAutoNum type="arabicPeriod"/>
            </a:pPr>
            <a:r>
              <a:rPr lang="en-US" sz="1600" dirty="0">
                <a:latin typeface="Times New Roman" panose="02020603050405020304" pitchFamily="18" charset="0"/>
                <a:ea typeface="Times New Roman"/>
                <a:cs typeface="Times New Roman" panose="02020603050405020304" pitchFamily="18" charset="0"/>
                <a:sym typeface="Times New Roman"/>
              </a:rPr>
              <a:t>Proposed Methodology</a:t>
            </a:r>
          </a:p>
          <a:p>
            <a:pPr marL="457200" lvl="0" indent="-429260" algn="just">
              <a:lnSpc>
                <a:spcPct val="170000"/>
              </a:lnSpc>
              <a:spcBef>
                <a:spcPts val="480"/>
              </a:spcBef>
              <a:spcAft>
                <a:spcPts val="0"/>
              </a:spcAft>
              <a:buSzPts val="1600"/>
              <a:buFont typeface="Times New Roman"/>
              <a:buAutoNum type="arabicPeriod"/>
            </a:pPr>
            <a:r>
              <a:rPr lang="en-US" sz="1600" dirty="0">
                <a:latin typeface="Times New Roman" panose="02020603050405020304" pitchFamily="18" charset="0"/>
                <a:ea typeface="Times New Roman"/>
                <a:cs typeface="Times New Roman" panose="02020603050405020304" pitchFamily="18" charset="0"/>
                <a:sym typeface="Times New Roman"/>
              </a:rPr>
              <a:t>High Level Diagram</a:t>
            </a:r>
          </a:p>
          <a:p>
            <a:pPr marL="457200" indent="-429260" algn="just">
              <a:lnSpc>
                <a:spcPct val="170000"/>
              </a:lnSpc>
              <a:spcBef>
                <a:spcPts val="480"/>
              </a:spcBef>
              <a:spcAft>
                <a:spcPts val="0"/>
              </a:spcAft>
              <a:buSzPts val="1600"/>
              <a:buFont typeface="Times New Roman"/>
              <a:buAutoNum type="arabicPeriod"/>
            </a:pPr>
            <a:r>
              <a:rPr lang="en-US" sz="1600" dirty="0">
                <a:latin typeface="Times New Roman" panose="02020603050405020304" pitchFamily="18" charset="0"/>
                <a:cs typeface="Times New Roman" panose="02020603050405020304" pitchFamily="18" charset="0"/>
              </a:rPr>
              <a:t>Results And Discussion</a:t>
            </a:r>
            <a:endParaRPr lang="en-US" sz="1600" dirty="0">
              <a:latin typeface="Times New Roman" panose="02020603050405020304" pitchFamily="18" charset="0"/>
              <a:ea typeface="Times New Roman"/>
              <a:cs typeface="Times New Roman" panose="02020603050405020304" pitchFamily="18" charset="0"/>
              <a:sym typeface="Times New Roman"/>
            </a:endParaRPr>
          </a:p>
          <a:p>
            <a:pPr marL="457200" lvl="0" indent="-429260" algn="just" rtl="0">
              <a:lnSpc>
                <a:spcPct val="170000"/>
              </a:lnSpc>
              <a:spcBef>
                <a:spcPts val="480"/>
              </a:spcBef>
              <a:spcAft>
                <a:spcPts val="0"/>
              </a:spcAft>
              <a:buSzPts val="1600"/>
              <a:buFont typeface="Times New Roman"/>
              <a:buAutoNum type="arabicPeriod"/>
            </a:pPr>
            <a:r>
              <a:rPr lang="en-US" sz="1600" dirty="0">
                <a:latin typeface="Times New Roman" panose="02020603050405020304" pitchFamily="18" charset="0"/>
                <a:ea typeface="Times New Roman"/>
                <a:cs typeface="Times New Roman" panose="02020603050405020304" pitchFamily="18" charset="0"/>
                <a:sym typeface="Times New Roman"/>
              </a:rPr>
              <a:t>References</a:t>
            </a:r>
          </a:p>
          <a:p>
            <a:pPr marL="457200" lvl="0" indent="-327660" algn="just" rtl="0">
              <a:lnSpc>
                <a:spcPct val="170000"/>
              </a:lnSpc>
              <a:spcBef>
                <a:spcPts val="480"/>
              </a:spcBef>
              <a:spcAft>
                <a:spcPts val="0"/>
              </a:spcAft>
              <a:buSzPts val="2040"/>
              <a:buNone/>
            </a:pPr>
            <a:endParaRPr lang="en-US" sz="1600" dirty="0">
              <a:latin typeface="Times New Roman" panose="02020603050405020304" pitchFamily="18" charset="0"/>
              <a:cs typeface="Times New Roman" panose="02020603050405020304" pitchFamily="18" charset="0"/>
            </a:endParaRPr>
          </a:p>
          <a:p>
            <a:pPr marL="457200" lvl="0" indent="-327660" algn="l" rtl="0">
              <a:lnSpc>
                <a:spcPct val="170000"/>
              </a:lnSpc>
              <a:spcBef>
                <a:spcPts val="480"/>
              </a:spcBef>
              <a:spcAft>
                <a:spcPts val="0"/>
              </a:spcAft>
              <a:buSzPts val="2040"/>
              <a:buNone/>
            </a:pPr>
            <a:endParaRPr lang="en-US" sz="1600" dirty="0">
              <a:latin typeface="Times New Roman" panose="02020603050405020304" pitchFamily="18" charset="0"/>
              <a:cs typeface="Times New Roman" panose="02020603050405020304" pitchFamily="18" charset="0"/>
            </a:endParaRPr>
          </a:p>
          <a:p>
            <a:pPr marL="0" lvl="0" indent="0" algn="l" rtl="0">
              <a:lnSpc>
                <a:spcPct val="170000"/>
              </a:lnSpc>
              <a:spcBef>
                <a:spcPts val="480"/>
              </a:spcBef>
              <a:spcAft>
                <a:spcPts val="0"/>
              </a:spcAft>
              <a:buSzPts val="2040"/>
              <a:buNone/>
            </a:pPr>
            <a:endParaRPr lang="en-US" sz="1600" dirty="0">
              <a:latin typeface="Times New Roman" panose="02020603050405020304" pitchFamily="18" charset="0"/>
              <a:cs typeface="Times New Roman" panose="02020603050405020304" pitchFamily="18" charset="0"/>
            </a:endParaRPr>
          </a:p>
        </p:txBody>
      </p:sp>
      <p:sp>
        <p:nvSpPr>
          <p:cNvPr id="143" name="Google Shape;143;p1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dirty="0"/>
          </a:p>
        </p:txBody>
      </p:sp>
      <p:pic>
        <p:nvPicPr>
          <p:cNvPr id="144" name="Google Shape;144;p14"/>
          <p:cNvPicPr preferRelativeResize="0"/>
          <p:nvPr/>
        </p:nvPicPr>
        <p:blipFill rotWithShape="1">
          <a:blip r:embed="rId3">
            <a:alphaModFix/>
          </a:blip>
          <a:srcRect/>
          <a:stretch/>
        </p:blipFill>
        <p:spPr>
          <a:xfrm>
            <a:off x="7622575" y="476675"/>
            <a:ext cx="851975" cy="622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5"/>
          <p:cNvSpPr txBox="1">
            <a:spLocks noGrp="1"/>
          </p:cNvSpPr>
          <p:nvPr>
            <p:ph type="title"/>
          </p:nvPr>
        </p:nvSpPr>
        <p:spPr>
          <a:xfrm>
            <a:off x="982133" y="457201"/>
            <a:ext cx="7704667" cy="1293081"/>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onstantia"/>
              <a:buNone/>
            </a:pPr>
            <a:r>
              <a:rPr lang="en-US" sz="2800" b="1" dirty="0">
                <a:latin typeface="Times New Roman" panose="02020603050405020304" pitchFamily="18" charset="0"/>
                <a:cs typeface="Times New Roman" panose="02020603050405020304" pitchFamily="18" charset="0"/>
              </a:rPr>
              <a:t>Introduction</a:t>
            </a:r>
            <a:endParaRPr sz="2800" b="1" dirty="0">
              <a:latin typeface="Times New Roman" panose="02020603050405020304" pitchFamily="18" charset="0"/>
              <a:cs typeface="Times New Roman" panose="02020603050405020304" pitchFamily="18" charset="0"/>
            </a:endParaRPr>
          </a:p>
        </p:txBody>
      </p:sp>
      <p:sp>
        <p:nvSpPr>
          <p:cNvPr id="154" name="Google Shape;154;p15"/>
          <p:cNvSpPr txBox="1">
            <a:spLocks noGrp="1"/>
          </p:cNvSpPr>
          <p:nvPr>
            <p:ph idx="1"/>
          </p:nvPr>
        </p:nvSpPr>
        <p:spPr>
          <a:xfrm>
            <a:off x="982133" y="1899920"/>
            <a:ext cx="7730723" cy="4488179"/>
          </a:xfrm>
          <a:prstGeom prst="rect">
            <a:avLst/>
          </a:prstGeom>
          <a:noFill/>
          <a:ln>
            <a:noFill/>
          </a:ln>
        </p:spPr>
        <p:txBody>
          <a:bodyPr spcFirstLastPara="1" wrap="square" lIns="91425" tIns="45700" rIns="91425" bIns="45700" anchor="t" anchorCtr="0">
            <a:normAutofit/>
          </a:bodyPr>
          <a:lstStyle/>
          <a:p>
            <a:pPr marL="127000" lvl="0" indent="0" algn="just">
              <a:lnSpc>
                <a:spcPct val="115000"/>
              </a:lnSpc>
              <a:spcBef>
                <a:spcPts val="0"/>
              </a:spcBef>
              <a:spcAft>
                <a:spcPts val="0"/>
              </a:spcAft>
              <a:buSzPts val="1600"/>
              <a:buNone/>
            </a:pPr>
            <a:r>
              <a:rPr lang="en-US" sz="1600" dirty="0">
                <a:latin typeface="Times New Roman" panose="02020603050405020304" pitchFamily="18" charset="0"/>
                <a:cs typeface="Times New Roman" panose="02020603050405020304" pitchFamily="18" charset="0"/>
              </a:rPr>
              <a:t>In recent years, advancements in artificial intelligence—especially Generative Adversarial Networks (GANs)—have made it possible to create highly realistic synthetic media known as deepfakes. These manipulated images can convincingly replicate human faces, altering identities, expressions, or </a:t>
            </a:r>
            <a:r>
              <a:rPr lang="en-US" sz="1600" dirty="0" err="1">
                <a:latin typeface="Times New Roman" panose="02020603050405020304" pitchFamily="18" charset="0"/>
                <a:cs typeface="Times New Roman" panose="02020603050405020304" pitchFamily="18" charset="0"/>
              </a:rPr>
              <a:t>behaviours</a:t>
            </a:r>
            <a:r>
              <a:rPr lang="en-US" sz="1600" dirty="0">
                <a:latin typeface="Times New Roman" panose="02020603050405020304" pitchFamily="18" charset="0"/>
                <a:cs typeface="Times New Roman" panose="02020603050405020304" pitchFamily="18" charset="0"/>
              </a:rPr>
              <a:t>, it also introduces significant risks such as misinformation, identity fraud, cyber-harassment, and political manipulation. Therefore, detecting deepfakes has become a critical research area in digital security and modern computing. This project aims to develop a system capable of identifying whether an input image is real or fake. By leveraging deep learning-based classification models, the system analyze visual artifacts, inconsistencies, or manipulation traces that are often invisible to the human eye. The solution contributes to ongoing global efforts in combating digital deception and strengthening trust in visual content. Related work in this area includes CNN-based detectors, frequency-domain analysis, and attention-based transformer models. Our approach focuses on efficient image classification using a trained model to predict authenticity with high accuracy.</a:t>
            </a:r>
            <a:endParaRPr sz="1600" dirty="0">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1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000000"/>
                </a:solidFill>
              </a:rPr>
              <a:t>3</a:t>
            </a:fld>
            <a:endParaRPr dirty="0">
              <a:solidFill>
                <a:srgbClr val="000000"/>
              </a:solidFill>
            </a:endParaRPr>
          </a:p>
        </p:txBody>
      </p:sp>
      <p:pic>
        <p:nvPicPr>
          <p:cNvPr id="156" name="Google Shape;156;p15"/>
          <p:cNvPicPr preferRelativeResize="0"/>
          <p:nvPr/>
        </p:nvPicPr>
        <p:blipFill rotWithShape="1">
          <a:blip r:embed="rId3">
            <a:alphaModFix/>
          </a:blip>
          <a:srcRect/>
          <a:stretch/>
        </p:blipFill>
        <p:spPr>
          <a:xfrm>
            <a:off x="7622575" y="476675"/>
            <a:ext cx="851975" cy="622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6"/>
          <p:cNvSpPr txBox="1">
            <a:spLocks noGrp="1"/>
          </p:cNvSpPr>
          <p:nvPr>
            <p:ph type="title"/>
          </p:nvPr>
        </p:nvSpPr>
        <p:spPr>
          <a:xfrm>
            <a:off x="982133" y="457201"/>
            <a:ext cx="7704667" cy="995679"/>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onstantia"/>
              <a:buNone/>
            </a:pPr>
            <a:r>
              <a:rPr lang="en-US" sz="2800" b="1" dirty="0">
                <a:latin typeface="Times New Roman" panose="02020603050405020304" pitchFamily="18" charset="0"/>
                <a:cs typeface="Times New Roman" panose="02020603050405020304" pitchFamily="18" charset="0"/>
              </a:rPr>
              <a:t>Problem Statement</a:t>
            </a:r>
            <a:endParaRPr sz="2800" b="1" dirty="0">
              <a:latin typeface="Times New Roman" panose="02020603050405020304" pitchFamily="18" charset="0"/>
              <a:cs typeface="Times New Roman" panose="02020603050405020304" pitchFamily="18" charset="0"/>
            </a:endParaRPr>
          </a:p>
        </p:txBody>
      </p:sp>
      <p:sp>
        <p:nvSpPr>
          <p:cNvPr id="167" name="Google Shape;167;p16"/>
          <p:cNvSpPr txBox="1">
            <a:spLocks noGrp="1"/>
          </p:cNvSpPr>
          <p:nvPr>
            <p:ph idx="1"/>
          </p:nvPr>
        </p:nvSpPr>
        <p:spPr>
          <a:xfrm>
            <a:off x="982133" y="1682169"/>
            <a:ext cx="7276834" cy="4196715"/>
          </a:xfrm>
          <a:prstGeom prst="rect">
            <a:avLst/>
          </a:prstGeom>
          <a:noFill/>
          <a:ln>
            <a:noFill/>
          </a:ln>
        </p:spPr>
        <p:txBody>
          <a:bodyPr spcFirstLastPara="1" wrap="square" lIns="91425" tIns="45700" rIns="91425" bIns="45700" anchor="t" anchorCtr="0">
            <a:normAutofit/>
          </a:bodyPr>
          <a:lstStyle/>
          <a:p>
            <a:pPr marL="127000" lvl="0" indent="0" algn="just">
              <a:lnSpc>
                <a:spcPct val="115000"/>
              </a:lnSpc>
              <a:spcBef>
                <a:spcPts val="0"/>
              </a:spcBef>
              <a:spcAft>
                <a:spcPts val="0"/>
              </a:spcAft>
              <a:buSzPts val="1600"/>
              <a:buNone/>
            </a:pPr>
            <a:r>
              <a:rPr lang="en-US" sz="1600" dirty="0">
                <a:latin typeface="Times New Roman" panose="02020603050405020304" pitchFamily="18" charset="0"/>
                <a:cs typeface="Times New Roman" panose="02020603050405020304" pitchFamily="18" charset="0"/>
              </a:rPr>
              <a:t>Deepfake technology enables the creation of highly realistic manipulated images, making it increasingly difficult for humans to differentiate real content from artificially generated content. This poses significant threats to privacy, security, and information authenticity. To develop an AI-driven deepfake detection system that accepts an input image, analyzes its visual features using a trained deep learning model, and outputs whether the image is real or fake with high accuracy. </a:t>
            </a:r>
            <a:endParaRPr sz="1600" dirty="0">
              <a:latin typeface="Times New Roman" panose="02020603050405020304" pitchFamily="18" charset="0"/>
              <a:ea typeface="Times New Roman"/>
              <a:cs typeface="Times New Roman" panose="02020603050405020304" pitchFamily="18" charset="0"/>
              <a:sym typeface="Times New Roman"/>
            </a:endParaRPr>
          </a:p>
        </p:txBody>
      </p:sp>
      <p:sp>
        <p:nvSpPr>
          <p:cNvPr id="168" name="Google Shape;168;p1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000000"/>
                </a:solidFill>
              </a:rPr>
              <a:t>4</a:t>
            </a:fld>
            <a:endParaRPr dirty="0">
              <a:solidFill>
                <a:srgbClr val="000000"/>
              </a:solidFill>
            </a:endParaRPr>
          </a:p>
        </p:txBody>
      </p:sp>
      <p:pic>
        <p:nvPicPr>
          <p:cNvPr id="169" name="Google Shape;169;p16"/>
          <p:cNvPicPr preferRelativeResize="0"/>
          <p:nvPr/>
        </p:nvPicPr>
        <p:blipFill rotWithShape="1">
          <a:blip r:embed="rId3">
            <a:alphaModFix/>
          </a:blip>
          <a:srcRect/>
          <a:stretch/>
        </p:blipFill>
        <p:spPr>
          <a:xfrm>
            <a:off x="7622575" y="476675"/>
            <a:ext cx="851975" cy="622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7"/>
          <p:cNvSpPr txBox="1">
            <a:spLocks noGrp="1"/>
          </p:cNvSpPr>
          <p:nvPr>
            <p:ph type="title"/>
          </p:nvPr>
        </p:nvSpPr>
        <p:spPr>
          <a:xfrm>
            <a:off x="768216" y="0"/>
            <a:ext cx="7704667" cy="622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onstantia"/>
              <a:buNone/>
            </a:pPr>
            <a:r>
              <a:rPr lang="en-US" sz="1800" b="1" dirty="0">
                <a:latin typeface="Times New Roman" panose="02020603050405020304" pitchFamily="18" charset="0"/>
                <a:cs typeface="Times New Roman" panose="02020603050405020304" pitchFamily="18" charset="0"/>
              </a:rPr>
              <a:t>Literature Survey</a:t>
            </a:r>
            <a:endParaRPr sz="1800" b="1" dirty="0">
              <a:latin typeface="Times New Roman" panose="02020603050405020304" pitchFamily="18" charset="0"/>
              <a:cs typeface="Times New Roman" panose="02020603050405020304" pitchFamily="18" charset="0"/>
            </a:endParaRPr>
          </a:p>
        </p:txBody>
      </p:sp>
      <p:sp>
        <p:nvSpPr>
          <p:cNvPr id="180" name="Google Shape;180;p17"/>
          <p:cNvSpPr txBox="1">
            <a:spLocks noGrp="1"/>
          </p:cNvSpPr>
          <p:nvPr>
            <p:ph idx="1"/>
          </p:nvPr>
        </p:nvSpPr>
        <p:spPr>
          <a:xfrm>
            <a:off x="1473790" y="1933907"/>
            <a:ext cx="6196500" cy="36039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000"/>
              </a:spcBef>
              <a:spcAft>
                <a:spcPts val="0"/>
              </a:spcAft>
              <a:buNone/>
            </a:pPr>
            <a:endParaRPr sz="1600" dirty="0">
              <a:latin typeface="Times New Roman"/>
              <a:ea typeface="Times New Roman"/>
              <a:cs typeface="Times New Roman"/>
              <a:sym typeface="Times New Roman"/>
            </a:endParaRPr>
          </a:p>
          <a:p>
            <a:pPr marL="0" lvl="0" indent="0" algn="l" rtl="0">
              <a:lnSpc>
                <a:spcPct val="115000"/>
              </a:lnSpc>
              <a:spcBef>
                <a:spcPts val="1000"/>
              </a:spcBef>
              <a:spcAft>
                <a:spcPts val="1000"/>
              </a:spcAft>
              <a:buNone/>
            </a:pPr>
            <a:endParaRPr sz="1600" dirty="0">
              <a:latin typeface="Times New Roman"/>
              <a:ea typeface="Times New Roman"/>
              <a:cs typeface="Times New Roman"/>
              <a:sym typeface="Times New Roman"/>
            </a:endParaRPr>
          </a:p>
        </p:txBody>
      </p:sp>
      <p:sp>
        <p:nvSpPr>
          <p:cNvPr id="181" name="Google Shape;181;p1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000000"/>
                </a:solidFill>
              </a:rPr>
              <a:t>5</a:t>
            </a:fld>
            <a:endParaRPr dirty="0">
              <a:solidFill>
                <a:srgbClr val="000000"/>
              </a:solidFill>
            </a:endParaRPr>
          </a:p>
        </p:txBody>
      </p:sp>
      <p:pic>
        <p:nvPicPr>
          <p:cNvPr id="182" name="Google Shape;182;p17"/>
          <p:cNvPicPr preferRelativeResize="0"/>
          <p:nvPr/>
        </p:nvPicPr>
        <p:blipFill rotWithShape="1">
          <a:blip r:embed="rId3">
            <a:alphaModFix/>
          </a:blip>
          <a:srcRect/>
          <a:stretch/>
        </p:blipFill>
        <p:spPr>
          <a:xfrm>
            <a:off x="7622575" y="476675"/>
            <a:ext cx="851975" cy="622300"/>
          </a:xfrm>
          <a:prstGeom prst="rect">
            <a:avLst/>
          </a:prstGeom>
          <a:noFill/>
          <a:ln>
            <a:noFill/>
          </a:ln>
        </p:spPr>
      </p:pic>
      <p:sp>
        <p:nvSpPr>
          <p:cNvPr id="3" name="TextBox 2">
            <a:extLst>
              <a:ext uri="{FF2B5EF4-FFF2-40B4-BE49-F238E27FC236}">
                <a16:creationId xmlns:a16="http://schemas.microsoft.com/office/drawing/2014/main" id="{EBB8BE28-9087-8EE4-CAED-7B51661A2ADD}"/>
              </a:ext>
            </a:extLst>
          </p:cNvPr>
          <p:cNvSpPr txBox="1"/>
          <p:nvPr/>
        </p:nvSpPr>
        <p:spPr>
          <a:xfrm>
            <a:off x="1072055" y="1098975"/>
            <a:ext cx="7614745" cy="4278094"/>
          </a:xfrm>
          <a:prstGeom prst="rect">
            <a:avLst/>
          </a:prstGeom>
          <a:noFill/>
        </p:spPr>
        <p:txBody>
          <a:bodyPr wrap="square" rtlCol="0">
            <a:spAutoFit/>
          </a:bodyPr>
          <a:lstStyle/>
          <a:p>
            <a:pPr marL="342900" indent="-342900">
              <a:buAutoNum type="arabicPeriod"/>
            </a:pPr>
            <a:r>
              <a:rPr lang="en-US" sz="1600" b="1" dirty="0" err="1">
                <a:latin typeface="Times New Roman" panose="02020603050405020304" pitchFamily="18" charset="0"/>
                <a:cs typeface="Times New Roman" panose="02020603050405020304" pitchFamily="18" charset="0"/>
              </a:rPr>
              <a:t>FaceForensics</a:t>
            </a:r>
            <a:r>
              <a:rPr lang="en-US" sz="1600" b="1" dirty="0">
                <a:latin typeface="Times New Roman" panose="02020603050405020304" pitchFamily="18" charset="0"/>
                <a:cs typeface="Times New Roman" panose="02020603050405020304" pitchFamily="18" charset="0"/>
              </a:rPr>
              <a:t>++ (Rössler et al., 2019)</a:t>
            </a:r>
            <a:r>
              <a:rPr lang="en-US" sz="1600" dirty="0">
                <a:latin typeface="Times New Roman" panose="02020603050405020304" pitchFamily="18" charset="0"/>
                <a:cs typeface="Times New Roman" panose="02020603050405020304" pitchFamily="18" charset="0"/>
              </a:rPr>
              <a:t>. This work introduces </a:t>
            </a:r>
            <a:r>
              <a:rPr lang="en-US" sz="1600" dirty="0" err="1">
                <a:latin typeface="Times New Roman" panose="02020603050405020304" pitchFamily="18" charset="0"/>
                <a:cs typeface="Times New Roman" panose="02020603050405020304" pitchFamily="18" charset="0"/>
              </a:rPr>
              <a:t>FaceForensics</a:t>
            </a:r>
            <a:r>
              <a:rPr lang="en-US" sz="1600" dirty="0">
                <a:latin typeface="Times New Roman" panose="02020603050405020304" pitchFamily="18" charset="0"/>
                <a:cs typeface="Times New Roman" panose="02020603050405020304" pitchFamily="18" charset="0"/>
              </a:rPr>
              <a:t>++, a large benchmark and dataset of manipulated facial images/videos (</a:t>
            </a:r>
            <a:r>
              <a:rPr lang="en-US" sz="1600" dirty="0" err="1">
                <a:latin typeface="Times New Roman" panose="02020603050405020304" pitchFamily="18" charset="0"/>
                <a:cs typeface="Times New Roman" panose="02020603050405020304" pitchFamily="18" charset="0"/>
              </a:rPr>
              <a:t>DeepFakes</a:t>
            </a:r>
            <a:r>
              <a:rPr lang="en-US" sz="1600" dirty="0">
                <a:latin typeface="Times New Roman" panose="02020603050405020304" pitchFamily="18" charset="0"/>
                <a:cs typeface="Times New Roman" panose="02020603050405020304" pitchFamily="18" charset="0"/>
              </a:rPr>
              <a:t>, Face2Face, </a:t>
            </a:r>
            <a:r>
              <a:rPr lang="en-US" sz="1600" dirty="0" err="1">
                <a:latin typeface="Times New Roman" panose="02020603050405020304" pitchFamily="18" charset="0"/>
                <a:cs typeface="Times New Roman" panose="02020603050405020304" pitchFamily="18" charset="0"/>
              </a:rPr>
              <a:t>FaceSwap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NeuralTextures</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andshows</a:t>
            </a:r>
            <a:r>
              <a:rPr lang="en-US" sz="1600" dirty="0">
                <a:latin typeface="Times New Roman" panose="02020603050405020304" pitchFamily="18" charset="0"/>
                <a:cs typeface="Times New Roman" panose="02020603050405020304" pitchFamily="18" charset="0"/>
              </a:rPr>
              <a:t> systematic evaluation of detection methods. The paper demonstrates that data-driven detectors (especially models using domain knowledge) can outperform human observers and provides a standardized testbed that stimulated much subsequent work.</a:t>
            </a:r>
          </a:p>
          <a:p>
            <a:pPr marL="342900" indent="-342900">
              <a:buAutoNum type="arabicPeriod"/>
            </a:pP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Exposing </a:t>
            </a:r>
            <a:r>
              <a:rPr lang="en-US" sz="1600" b="1" dirty="0" err="1">
                <a:latin typeface="Times New Roman" panose="02020603050405020304" pitchFamily="18" charset="0"/>
                <a:cs typeface="Times New Roman" panose="02020603050405020304" pitchFamily="18" charset="0"/>
              </a:rPr>
              <a:t>DeepFake</a:t>
            </a:r>
            <a:r>
              <a:rPr lang="en-US" sz="1600" b="1" dirty="0">
                <a:latin typeface="Times New Roman" panose="02020603050405020304" pitchFamily="18" charset="0"/>
                <a:cs typeface="Times New Roman" panose="02020603050405020304" pitchFamily="18" charset="0"/>
              </a:rPr>
              <a:t> Videos by Detecting Face Warping Artifacts (Li &amp; Lyu, 2018)</a:t>
            </a:r>
            <a:r>
              <a:rPr lang="en-US" sz="1600" dirty="0">
                <a:latin typeface="Times New Roman" panose="02020603050405020304" pitchFamily="18" charset="0"/>
                <a:cs typeface="Times New Roman" panose="02020603050405020304" pitchFamily="18" charset="0"/>
              </a:rPr>
              <a:t>. Li and Lyu observe that many </a:t>
            </a:r>
            <a:r>
              <a:rPr lang="en-US" sz="1600" dirty="0" err="1">
                <a:latin typeface="Times New Roman" panose="02020603050405020304" pitchFamily="18" charset="0"/>
                <a:cs typeface="Times New Roman" panose="02020603050405020304" pitchFamily="18" charset="0"/>
              </a:rPr>
              <a:t>DeepFake</a:t>
            </a:r>
            <a:r>
              <a:rPr lang="en-US" sz="1600" dirty="0">
                <a:latin typeface="Times New Roman" panose="02020603050405020304" pitchFamily="18" charset="0"/>
                <a:cs typeface="Times New Roman" panose="02020603050405020304" pitchFamily="18" charset="0"/>
              </a:rPr>
              <a:t> pipelines synthesize faces at a fixed resolution and then warp them to match original faces, leaving affine-warping artifacts; they propose a CNN detector trained using simulated warping artifacts, achieving robust detection without requiring many real generated examples. This idea of exploiting synthesis artifacts (rather than content) influenced many later detectors. </a:t>
            </a:r>
          </a:p>
          <a:p>
            <a:pPr marL="342900" indent="-342900">
              <a:buAutoNum type="arabicPeriod"/>
            </a:pP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Celeb-DF: A Large-Scale Challenging Dataset (Li et al., 2020)</a:t>
            </a:r>
            <a:r>
              <a:rPr lang="en-US" sz="1600" dirty="0">
                <a:latin typeface="Times New Roman" panose="02020603050405020304" pitchFamily="18" charset="0"/>
                <a:cs typeface="Times New Roman" panose="02020603050405020304" pitchFamily="18" charset="0"/>
              </a:rPr>
              <a:t>. The Celeb-DF paper releases a higher-quality, large </a:t>
            </a:r>
            <a:r>
              <a:rPr lang="en-US" sz="1600" dirty="0" err="1">
                <a:latin typeface="Times New Roman" panose="02020603050405020304" pitchFamily="18" charset="0"/>
                <a:cs typeface="Times New Roman" panose="02020603050405020304" pitchFamily="18" charset="0"/>
              </a:rPr>
              <a:t>DeepFake</a:t>
            </a:r>
            <a:r>
              <a:rPr lang="en-US" sz="1600" dirty="0">
                <a:latin typeface="Times New Roman" panose="02020603050405020304" pitchFamily="18" charset="0"/>
                <a:cs typeface="Times New Roman" panose="02020603050405020304" pitchFamily="18" charset="0"/>
              </a:rPr>
              <a:t> video dataset designed to be more realistic than prior collections. The authors show that many detectors that performed well on older datasets struggle on Celeb-DF, underscoring dataset bias and the need for more robust methods. </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7"/>
          <p:cNvSpPr txBox="1">
            <a:spLocks noGrp="1"/>
          </p:cNvSpPr>
          <p:nvPr>
            <p:ph type="title"/>
          </p:nvPr>
        </p:nvSpPr>
        <p:spPr>
          <a:xfrm>
            <a:off x="768216" y="0"/>
            <a:ext cx="7704667" cy="622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onstantia"/>
              <a:buNone/>
            </a:pPr>
            <a:r>
              <a:rPr lang="en-US" sz="1800" b="1" dirty="0">
                <a:latin typeface="Times New Roman" panose="02020603050405020304" pitchFamily="18" charset="0"/>
                <a:cs typeface="Times New Roman" panose="02020603050405020304" pitchFamily="18" charset="0"/>
              </a:rPr>
              <a:t>Literature Survey</a:t>
            </a:r>
            <a:endParaRPr sz="1800" b="1" dirty="0">
              <a:latin typeface="Times New Roman" panose="02020603050405020304" pitchFamily="18" charset="0"/>
              <a:cs typeface="Times New Roman" panose="02020603050405020304" pitchFamily="18" charset="0"/>
            </a:endParaRPr>
          </a:p>
        </p:txBody>
      </p:sp>
      <p:sp>
        <p:nvSpPr>
          <p:cNvPr id="181" name="Google Shape;181;p1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000000"/>
                </a:solidFill>
              </a:rPr>
              <a:t>6</a:t>
            </a:fld>
            <a:endParaRPr dirty="0">
              <a:solidFill>
                <a:srgbClr val="000000"/>
              </a:solidFill>
            </a:endParaRPr>
          </a:p>
        </p:txBody>
      </p:sp>
      <p:pic>
        <p:nvPicPr>
          <p:cNvPr id="182" name="Google Shape;182;p17"/>
          <p:cNvPicPr preferRelativeResize="0"/>
          <p:nvPr/>
        </p:nvPicPr>
        <p:blipFill rotWithShape="1">
          <a:blip r:embed="rId3">
            <a:alphaModFix/>
          </a:blip>
          <a:srcRect/>
          <a:stretch/>
        </p:blipFill>
        <p:spPr>
          <a:xfrm>
            <a:off x="7622575" y="476675"/>
            <a:ext cx="851975" cy="622300"/>
          </a:xfrm>
          <a:prstGeom prst="rect">
            <a:avLst/>
          </a:prstGeom>
          <a:noFill/>
          <a:ln>
            <a:noFill/>
          </a:ln>
        </p:spPr>
      </p:pic>
      <p:sp>
        <p:nvSpPr>
          <p:cNvPr id="8" name="Rectangle 7"/>
          <p:cNvSpPr/>
          <p:nvPr/>
        </p:nvSpPr>
        <p:spPr>
          <a:xfrm>
            <a:off x="1164431" y="1207075"/>
            <a:ext cx="7522369" cy="307777"/>
          </a:xfrm>
          <a:prstGeom prst="rect">
            <a:avLst/>
          </a:prstGeom>
        </p:spPr>
        <p:txBody>
          <a:bodyPr wrap="square">
            <a:spAutoFit/>
          </a:bodyPr>
          <a:lstStyle/>
          <a:p>
            <a:endParaRPr lang="en-US" sz="1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682C9CC-D598-C9AB-0596-1F66CA09BF73}"/>
              </a:ext>
            </a:extLst>
          </p:cNvPr>
          <p:cNvSpPr txBox="1"/>
          <p:nvPr/>
        </p:nvSpPr>
        <p:spPr>
          <a:xfrm>
            <a:off x="1164430" y="1207075"/>
            <a:ext cx="7704667" cy="4278094"/>
          </a:xfrm>
          <a:prstGeom prst="rect">
            <a:avLst/>
          </a:prstGeom>
          <a:noFill/>
        </p:spPr>
        <p:txBody>
          <a:bodyPr wrap="square" rtlCol="0">
            <a:spAutoFit/>
          </a:bodyPr>
          <a:lstStyle/>
          <a:p>
            <a:pPr algn="just"/>
            <a:r>
              <a:rPr lang="en-US" sz="1600" b="1" dirty="0">
                <a:latin typeface="Times New Roman" panose="02020603050405020304" pitchFamily="18" charset="0"/>
                <a:cs typeface="Times New Roman" panose="02020603050405020304" pitchFamily="18" charset="0"/>
              </a:rPr>
              <a:t>4. </a:t>
            </a:r>
            <a:r>
              <a:rPr lang="en-US" sz="1600" b="1" dirty="0" err="1">
                <a:latin typeface="Times New Roman" panose="02020603050405020304" pitchFamily="18" charset="0"/>
                <a:cs typeface="Times New Roman" panose="02020603050405020304" pitchFamily="18" charset="0"/>
              </a:rPr>
              <a:t>DeepFake</a:t>
            </a:r>
            <a:r>
              <a:rPr lang="en-US" sz="1600" b="1" dirty="0">
                <a:latin typeface="Times New Roman" panose="02020603050405020304" pitchFamily="18" charset="0"/>
                <a:cs typeface="Times New Roman" panose="02020603050405020304" pitchFamily="18" charset="0"/>
              </a:rPr>
              <a:t> Detection Challenge (DFDC) dataset (Facebook / partners, 2019 2020</a:t>
            </a:r>
            <a:r>
              <a:rPr lang="en-US" sz="1600" dirty="0">
                <a:latin typeface="Times New Roman" panose="02020603050405020304" pitchFamily="18" charset="0"/>
                <a:cs typeface="Times New Roman" panose="02020603050405020304" pitchFamily="18" charset="0"/>
              </a:rPr>
              <a:t>). The        DFDC initiative produced a large, diverse dataset and a community challenge to drive detection progress. The dataset and competition highlighted the practical difficulties of in-the-wild detection, promoted ensemble and large-scale training strategies, and became a standard benchmark for robustness evaluation. </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5. </a:t>
            </a:r>
            <a:r>
              <a:rPr lang="en-US" sz="1600" b="1" dirty="0" err="1">
                <a:latin typeface="Times New Roman" panose="02020603050405020304" pitchFamily="18" charset="0"/>
                <a:cs typeface="Times New Roman" panose="02020603050405020304" pitchFamily="18" charset="0"/>
              </a:rPr>
              <a:t>DeepFakes</a:t>
            </a:r>
            <a:r>
              <a:rPr lang="en-US" sz="1600" b="1" dirty="0">
                <a:latin typeface="Times New Roman" panose="02020603050405020304" pitchFamily="18" charset="0"/>
                <a:cs typeface="Times New Roman" panose="02020603050405020304" pitchFamily="18" charset="0"/>
              </a:rPr>
              <a:t> and Beyond: A Survey (</a:t>
            </a:r>
            <a:r>
              <a:rPr lang="en-US" sz="1600" b="1" dirty="0" err="1">
                <a:latin typeface="Times New Roman" panose="02020603050405020304" pitchFamily="18" charset="0"/>
                <a:cs typeface="Times New Roman" panose="02020603050405020304" pitchFamily="18" charset="0"/>
              </a:rPr>
              <a:t>Tolosana</a:t>
            </a:r>
            <a:r>
              <a:rPr lang="en-US" sz="1600" b="1" dirty="0">
                <a:latin typeface="Times New Roman" panose="02020603050405020304" pitchFamily="18" charset="0"/>
                <a:cs typeface="Times New Roman" panose="02020603050405020304" pitchFamily="18" charset="0"/>
              </a:rPr>
              <a:t> et al., 2020)</a:t>
            </a:r>
            <a:r>
              <a:rPr lang="en-US" sz="1600" dirty="0">
                <a:latin typeface="Times New Roman" panose="02020603050405020304" pitchFamily="18" charset="0"/>
                <a:cs typeface="Times New Roman" panose="02020603050405020304" pitchFamily="18" charset="0"/>
              </a:rPr>
              <a:t>. This comprehensive survey categorizes face manipulation types (synthesis, identity swap, attribute/expression editing), reviews generation methods and datasets, and summarizes detection approaches and open challenges (generalization, robustness, evaluation). It is a useful map of the field and motivates the problem statements of many projects. </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6. </a:t>
            </a:r>
            <a:r>
              <a:rPr lang="en-US" sz="1600" b="1" dirty="0" err="1">
                <a:latin typeface="Times New Roman" panose="02020603050405020304" pitchFamily="18" charset="0"/>
                <a:cs typeface="Times New Roman" panose="02020603050405020304" pitchFamily="18" charset="0"/>
              </a:rPr>
              <a:t>MesoNet</a:t>
            </a:r>
            <a:r>
              <a:rPr lang="en-US" sz="1600" b="1" dirty="0">
                <a:latin typeface="Times New Roman" panose="02020603050405020304" pitchFamily="18" charset="0"/>
                <a:cs typeface="Times New Roman" panose="02020603050405020304" pitchFamily="18" charset="0"/>
              </a:rPr>
              <a:t>: a Compact Facial Video Forgery Detection Network (</a:t>
            </a:r>
            <a:r>
              <a:rPr lang="en-US" sz="1600" b="1" dirty="0" err="1">
                <a:latin typeface="Times New Roman" panose="02020603050405020304" pitchFamily="18" charset="0"/>
                <a:cs typeface="Times New Roman" panose="02020603050405020304" pitchFamily="18" charset="0"/>
              </a:rPr>
              <a:t>Afchar</a:t>
            </a:r>
            <a:r>
              <a:rPr lang="en-US" sz="1600" b="1" dirty="0">
                <a:latin typeface="Times New Roman" panose="02020603050405020304" pitchFamily="18" charset="0"/>
                <a:cs typeface="Times New Roman" panose="02020603050405020304" pitchFamily="18" charset="0"/>
              </a:rPr>
              <a:t> et al., 2018). </a:t>
            </a:r>
            <a:r>
              <a:rPr lang="en-US" sz="1600" dirty="0" err="1">
                <a:latin typeface="Times New Roman" panose="02020603050405020304" pitchFamily="18" charset="0"/>
                <a:cs typeface="Times New Roman" panose="02020603050405020304" pitchFamily="18" charset="0"/>
              </a:rPr>
              <a:t>MesoNet</a:t>
            </a:r>
            <a:r>
              <a:rPr lang="en-US" sz="1600" dirty="0">
                <a:latin typeface="Times New Roman" panose="02020603050405020304" pitchFamily="18" charset="0"/>
                <a:cs typeface="Times New Roman" panose="02020603050405020304" pitchFamily="18" charset="0"/>
              </a:rPr>
              <a:t> proposes lightweight CNN architectures focusing on mesoscopic visual features resilient to video compression; the networks achieve strong detection accuracy with few parameters, demonstrating that compact, task-specific models can be effective for real-time forensic tasks. </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2102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7"/>
          <p:cNvSpPr txBox="1">
            <a:spLocks noGrp="1"/>
          </p:cNvSpPr>
          <p:nvPr>
            <p:ph type="title"/>
          </p:nvPr>
        </p:nvSpPr>
        <p:spPr>
          <a:xfrm>
            <a:off x="768216" y="0"/>
            <a:ext cx="7704667" cy="622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onstantia"/>
              <a:buNone/>
            </a:pPr>
            <a:r>
              <a:rPr lang="en-US" sz="1800" b="1" dirty="0">
                <a:latin typeface="Times New Roman" panose="02020603050405020304" pitchFamily="18" charset="0"/>
                <a:cs typeface="Times New Roman" panose="02020603050405020304" pitchFamily="18" charset="0"/>
              </a:rPr>
              <a:t>Literature</a:t>
            </a:r>
            <a:r>
              <a:rPr lang="en-US" sz="1800" b="1" dirty="0"/>
              <a:t> </a:t>
            </a:r>
            <a:r>
              <a:rPr lang="en-US" sz="1800" b="1" dirty="0">
                <a:latin typeface="Times New Roman" panose="02020603050405020304" pitchFamily="18" charset="0"/>
                <a:cs typeface="Times New Roman" panose="02020603050405020304" pitchFamily="18" charset="0"/>
              </a:rPr>
              <a:t>Survey</a:t>
            </a:r>
            <a:endParaRPr sz="1800" b="1" dirty="0">
              <a:latin typeface="Times New Roman" panose="02020603050405020304" pitchFamily="18" charset="0"/>
              <a:cs typeface="Times New Roman" panose="02020603050405020304" pitchFamily="18" charset="0"/>
            </a:endParaRPr>
          </a:p>
        </p:txBody>
      </p:sp>
      <p:sp>
        <p:nvSpPr>
          <p:cNvPr id="181" name="Google Shape;181;p1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000000"/>
                </a:solidFill>
              </a:rPr>
              <a:t>7</a:t>
            </a:fld>
            <a:endParaRPr dirty="0">
              <a:solidFill>
                <a:srgbClr val="000000"/>
              </a:solidFill>
            </a:endParaRPr>
          </a:p>
        </p:txBody>
      </p:sp>
      <p:pic>
        <p:nvPicPr>
          <p:cNvPr id="182" name="Google Shape;182;p17"/>
          <p:cNvPicPr preferRelativeResize="0"/>
          <p:nvPr/>
        </p:nvPicPr>
        <p:blipFill rotWithShape="1">
          <a:blip r:embed="rId3">
            <a:alphaModFix/>
          </a:blip>
          <a:srcRect/>
          <a:stretch/>
        </p:blipFill>
        <p:spPr>
          <a:xfrm>
            <a:off x="8046895" y="151555"/>
            <a:ext cx="851975" cy="622300"/>
          </a:xfrm>
          <a:prstGeom prst="rect">
            <a:avLst/>
          </a:prstGeom>
          <a:noFill/>
          <a:ln>
            <a:noFill/>
          </a:ln>
        </p:spPr>
      </p:pic>
      <p:sp>
        <p:nvSpPr>
          <p:cNvPr id="2" name="Rectangle 1"/>
          <p:cNvSpPr/>
          <p:nvPr/>
        </p:nvSpPr>
        <p:spPr>
          <a:xfrm>
            <a:off x="1009649" y="1301967"/>
            <a:ext cx="7463233" cy="4278094"/>
          </a:xfrm>
          <a:prstGeom prst="rect">
            <a:avLst/>
          </a:prstGeom>
        </p:spPr>
        <p:txBody>
          <a:bodyPr wrap="square">
            <a:spAutoFit/>
          </a:bodyPr>
          <a:lstStyle/>
          <a:p>
            <a:r>
              <a:rPr lang="en-US" sz="1600" b="1" dirty="0">
                <a:latin typeface="Times New Roman" panose="02020603050405020304" pitchFamily="18" charset="0"/>
                <a:cs typeface="Times New Roman" panose="02020603050405020304" pitchFamily="18" charset="0"/>
              </a:rPr>
              <a:t>7. Capsule-Forensics: Using Capsule Networks to Detect Forged Images and Videos (Nguyen et al., 2018/2019)</a:t>
            </a:r>
            <a:r>
              <a:rPr lang="en-US" sz="1600" dirty="0">
                <a:latin typeface="Times New Roman" panose="02020603050405020304" pitchFamily="18" charset="0"/>
                <a:cs typeface="Times New Roman" panose="02020603050405020304" pitchFamily="18" charset="0"/>
              </a:rPr>
              <a:t>. This paper applies capsule networks to media forensics, arguing that capsules better capture hierarchical part–whole relationships and spatial consistency that forgeries disrupt. The method demonstrates promising performance across attack types, showing novel architecture choices can help robustness. </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8. Attributing Fake Images to GANs: Learning and Analyzing GAN Fingerprints (Yu et al., ICCV 2019). </a:t>
            </a:r>
            <a:r>
              <a:rPr lang="en-US" sz="1600" dirty="0">
                <a:latin typeface="Times New Roman" panose="02020603050405020304" pitchFamily="18" charset="0"/>
                <a:cs typeface="Times New Roman" panose="02020603050405020304" pitchFamily="18" charset="0"/>
              </a:rPr>
              <a:t>Yu and colleagues show that different generative models leave stable, learnable “fingerprints” in images; by training CNNs on residuals they can both detect GAN-generated images and attribute them to source models. This line of work underpins fingerprint-based detection and model attribution research. </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9. </a:t>
            </a:r>
            <a:r>
              <a:rPr lang="en-US" sz="1600" b="1" dirty="0" err="1">
                <a:latin typeface="Times New Roman" panose="02020603050405020304" pitchFamily="18" charset="0"/>
                <a:cs typeface="Times New Roman" panose="02020603050405020304" pitchFamily="18" charset="0"/>
              </a:rPr>
              <a:t>FakeCatcher</a:t>
            </a:r>
            <a:r>
              <a:rPr lang="en-US" sz="1600" b="1" dirty="0">
                <a:latin typeface="Times New Roman" panose="02020603050405020304" pitchFamily="18" charset="0"/>
                <a:cs typeface="Times New Roman" panose="02020603050405020304" pitchFamily="18" charset="0"/>
              </a:rPr>
              <a:t>: Detection of Synthetic Portrait Videos using Biological Signals 5 (Ciftci et al., 2019/2020). </a:t>
            </a:r>
            <a:r>
              <a:rPr lang="en-US" sz="1600" dirty="0" err="1">
                <a:latin typeface="Times New Roman" panose="02020603050405020304" pitchFamily="18" charset="0"/>
                <a:cs typeface="Times New Roman" panose="02020603050405020304" pitchFamily="18" charset="0"/>
              </a:rPr>
              <a:t>FakeCatcher</a:t>
            </a:r>
            <a:r>
              <a:rPr lang="en-US" sz="1600" dirty="0">
                <a:latin typeface="Times New Roman" panose="02020603050405020304" pitchFamily="18" charset="0"/>
                <a:cs typeface="Times New Roman" panose="02020603050405020304" pitchFamily="18" charset="0"/>
              </a:rPr>
              <a:t> exploits physiological signals (e.g., subtle color changes from blood flow, PPG) that are spatially/temporally coherent in real videos but disrupted in many synthetic ones; combining signal analysis with CNN classifiers yields high accuracy and demonstrates cross-modal cues (biological signals) are valuable. </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5118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7"/>
          <p:cNvSpPr txBox="1">
            <a:spLocks noGrp="1"/>
          </p:cNvSpPr>
          <p:nvPr>
            <p:ph type="title"/>
          </p:nvPr>
        </p:nvSpPr>
        <p:spPr>
          <a:xfrm>
            <a:off x="848939" y="-107571"/>
            <a:ext cx="7704667" cy="622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onstantia"/>
              <a:buNone/>
            </a:pPr>
            <a:r>
              <a:rPr lang="en-US" sz="1800" b="1" dirty="0">
                <a:latin typeface="Times New Roman" panose="02020603050405020304" pitchFamily="18" charset="0"/>
                <a:cs typeface="Times New Roman" panose="02020603050405020304" pitchFamily="18" charset="0"/>
              </a:rPr>
              <a:t>Literature Survey</a:t>
            </a:r>
            <a:endParaRPr sz="1800" b="1" dirty="0">
              <a:latin typeface="Times New Roman" panose="02020603050405020304" pitchFamily="18" charset="0"/>
              <a:cs typeface="Times New Roman" panose="02020603050405020304" pitchFamily="18" charset="0"/>
            </a:endParaRPr>
          </a:p>
        </p:txBody>
      </p:sp>
      <p:sp>
        <p:nvSpPr>
          <p:cNvPr id="180" name="Google Shape;180;p17"/>
          <p:cNvSpPr txBox="1">
            <a:spLocks noGrp="1"/>
          </p:cNvSpPr>
          <p:nvPr>
            <p:ph idx="1"/>
          </p:nvPr>
        </p:nvSpPr>
        <p:spPr>
          <a:xfrm>
            <a:off x="1473790" y="1933907"/>
            <a:ext cx="6196500" cy="36039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000"/>
              </a:spcBef>
              <a:spcAft>
                <a:spcPts val="0"/>
              </a:spcAft>
              <a:buNone/>
            </a:pPr>
            <a:endParaRPr sz="1600" dirty="0">
              <a:latin typeface="Times New Roman"/>
              <a:ea typeface="Times New Roman"/>
              <a:cs typeface="Times New Roman"/>
              <a:sym typeface="Times New Roman"/>
            </a:endParaRPr>
          </a:p>
          <a:p>
            <a:pPr marL="0" lvl="0" indent="0" algn="l" rtl="0">
              <a:lnSpc>
                <a:spcPct val="115000"/>
              </a:lnSpc>
              <a:spcBef>
                <a:spcPts val="1000"/>
              </a:spcBef>
              <a:spcAft>
                <a:spcPts val="1000"/>
              </a:spcAft>
              <a:buNone/>
            </a:pPr>
            <a:endParaRPr sz="1600" dirty="0">
              <a:latin typeface="Times New Roman"/>
              <a:ea typeface="Times New Roman"/>
              <a:cs typeface="Times New Roman"/>
              <a:sym typeface="Times New Roman"/>
            </a:endParaRPr>
          </a:p>
        </p:txBody>
      </p:sp>
      <p:sp>
        <p:nvSpPr>
          <p:cNvPr id="181" name="Google Shape;181;p1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000000"/>
                </a:solidFill>
              </a:rPr>
              <a:t>8</a:t>
            </a:fld>
            <a:endParaRPr dirty="0">
              <a:solidFill>
                <a:srgbClr val="000000"/>
              </a:solidFill>
            </a:endParaRPr>
          </a:p>
        </p:txBody>
      </p:sp>
      <p:pic>
        <p:nvPicPr>
          <p:cNvPr id="182" name="Google Shape;182;p17"/>
          <p:cNvPicPr preferRelativeResize="0"/>
          <p:nvPr/>
        </p:nvPicPr>
        <p:blipFill rotWithShape="1">
          <a:blip r:embed="rId3">
            <a:alphaModFix/>
          </a:blip>
          <a:srcRect/>
          <a:stretch/>
        </p:blipFill>
        <p:spPr>
          <a:xfrm>
            <a:off x="8046895" y="151555"/>
            <a:ext cx="851975" cy="622300"/>
          </a:xfrm>
          <a:prstGeom prst="rect">
            <a:avLst/>
          </a:prstGeom>
          <a:noFill/>
          <a:ln>
            <a:noFill/>
          </a:ln>
        </p:spPr>
      </p:pic>
      <p:sp>
        <p:nvSpPr>
          <p:cNvPr id="4" name="Rectangle 3"/>
          <p:cNvSpPr/>
          <p:nvPr/>
        </p:nvSpPr>
        <p:spPr>
          <a:xfrm>
            <a:off x="848939" y="1070506"/>
            <a:ext cx="8295061" cy="4278094"/>
          </a:xfrm>
          <a:prstGeom prst="rect">
            <a:avLst/>
          </a:prstGeom>
        </p:spPr>
        <p:txBody>
          <a:bodyPr wrap="square">
            <a:spAutoFit/>
          </a:bodyPr>
          <a:lstStyle/>
          <a:p>
            <a:pPr>
              <a:buSzPct val="110000"/>
            </a:pPr>
            <a:r>
              <a:rPr lang="en-US" sz="1600" b="1" dirty="0">
                <a:latin typeface="Times New Roman" panose="02020603050405020304" pitchFamily="18" charset="0"/>
                <a:cs typeface="Times New Roman" panose="02020603050405020304" pitchFamily="18" charset="0"/>
              </a:rPr>
              <a:t>13. Attributing and Detecting Fake Images via Frequency-domain Analysis (Joslin et al., 2020). </a:t>
            </a:r>
            <a:r>
              <a:rPr lang="en-US" sz="1600" dirty="0">
                <a:latin typeface="Times New Roman" panose="02020603050405020304" pitchFamily="18" charset="0"/>
                <a:cs typeface="Times New Roman" panose="02020603050405020304" pitchFamily="18" charset="0"/>
              </a:rPr>
              <a:t>This paper further examines frequency-domain signatures for GAN detection and proposes similarity metrics and methods for 6 attribution/detection in the frequency domain; results reinforce that spectral features are a reliable forensic cue and important for cross-model generalization.</a:t>
            </a:r>
          </a:p>
          <a:p>
            <a:pPr>
              <a:buSzPct val="110000"/>
            </a:pPr>
            <a:endParaRPr lang="en-US" sz="1600" dirty="0">
              <a:latin typeface="Times New Roman" panose="02020603050405020304" pitchFamily="18" charset="0"/>
              <a:cs typeface="Times New Roman" panose="02020603050405020304" pitchFamily="18" charset="0"/>
            </a:endParaRPr>
          </a:p>
          <a:p>
            <a:pPr>
              <a:buSzPct val="110000"/>
            </a:pP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14. On the Generalization of GAN Image Forensics (Xuan et al., 2019).</a:t>
            </a:r>
            <a:r>
              <a:rPr lang="en-US" sz="1600" dirty="0">
                <a:latin typeface="Times New Roman" panose="02020603050405020304" pitchFamily="18" charset="0"/>
                <a:cs typeface="Times New Roman" panose="02020603050405020304" pitchFamily="18" charset="0"/>
              </a:rPr>
              <a:t> Xuan et al. study how forensic detectors trained on one GAN family generalize to other unseen generators, showing that many detectors overfit generator-specific artifacts and calling for fingerprint-agnostic features or augmentation strategies to improve robustness. This theme (generalization to unseen generators) is central to current research.</a:t>
            </a:r>
          </a:p>
          <a:p>
            <a:pPr>
              <a:buSzPct val="110000"/>
            </a:pPr>
            <a:endParaRPr lang="en-US" sz="1600" dirty="0">
              <a:latin typeface="Times New Roman" panose="02020603050405020304" pitchFamily="18" charset="0"/>
              <a:cs typeface="Times New Roman" panose="02020603050405020304" pitchFamily="18" charset="0"/>
            </a:endParaRPr>
          </a:p>
          <a:p>
            <a:pPr>
              <a:buSzPct val="110000"/>
            </a:pP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15. General GAN-generated Image Detection by Data Augmentation in Fingerprint Domain (Wang et al., 2022). </a:t>
            </a:r>
            <a:r>
              <a:rPr lang="en-US" sz="1600" dirty="0">
                <a:latin typeface="Times New Roman" panose="02020603050405020304" pitchFamily="18" charset="0"/>
                <a:cs typeface="Times New Roman" panose="02020603050405020304" pitchFamily="18" charset="0"/>
              </a:rPr>
              <a:t>This recent work proposes augmenting GAN fingerprints (residual fingerprints) to synthesize diverse fake fingerprints during training, improving detector robustness against unseen GAN variants; it exemplifies modern efforts to close the generalization gap by explicitly modeling and varying generative fingerprints.</a:t>
            </a:r>
          </a:p>
        </p:txBody>
      </p:sp>
    </p:spTree>
    <p:extLst>
      <p:ext uri="{BB962C8B-B14F-4D97-AF65-F5344CB8AC3E}">
        <p14:creationId xmlns:p14="http://schemas.microsoft.com/office/powerpoint/2010/main" val="305342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222B7-7FBC-4B71-B334-2CA77BCA0868}"/>
              </a:ext>
            </a:extLst>
          </p:cNvPr>
          <p:cNvSpPr>
            <a:spLocks noGrp="1"/>
          </p:cNvSpPr>
          <p:nvPr>
            <p:ph type="title"/>
          </p:nvPr>
        </p:nvSpPr>
        <p:spPr>
          <a:xfrm>
            <a:off x="841456" y="105509"/>
            <a:ext cx="7704667" cy="433753"/>
          </a:xfrm>
        </p:spPr>
        <p:txBody>
          <a:bodyPr>
            <a:noAutofit/>
          </a:bodyPr>
          <a:lstStyle/>
          <a:p>
            <a:r>
              <a:rPr lang="en-IN" sz="3000" dirty="0">
                <a:latin typeface="Times New Roman" panose="02020603050405020304" pitchFamily="18" charset="0"/>
                <a:cs typeface="Times New Roman" panose="02020603050405020304" pitchFamily="18" charset="0"/>
              </a:rPr>
              <a:t> Homepage &amp; Project Introduction </a:t>
            </a:r>
            <a:endParaRPr lang="en-IN" sz="30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684971B-DADB-4FFC-AB18-6D7DF3BA40C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9</a:t>
            </a:fld>
            <a:endParaRPr lang="en-US" dirty="0"/>
          </a:p>
        </p:txBody>
      </p:sp>
      <p:pic>
        <p:nvPicPr>
          <p:cNvPr id="6" name="Google Shape;344;p29"/>
          <p:cNvPicPr preferRelativeResize="0"/>
          <p:nvPr/>
        </p:nvPicPr>
        <p:blipFill rotWithShape="1">
          <a:blip r:embed="rId2">
            <a:alphaModFix/>
          </a:blip>
          <a:srcRect/>
          <a:stretch/>
        </p:blipFill>
        <p:spPr>
          <a:xfrm>
            <a:off x="7927375" y="105509"/>
            <a:ext cx="851975" cy="622300"/>
          </a:xfrm>
          <a:prstGeom prst="rect">
            <a:avLst/>
          </a:prstGeom>
          <a:noFill/>
          <a:ln>
            <a:noFill/>
          </a:ln>
        </p:spPr>
      </p:pic>
      <p:pic>
        <p:nvPicPr>
          <p:cNvPr id="5" name="Picture 4">
            <a:extLst>
              <a:ext uri="{FF2B5EF4-FFF2-40B4-BE49-F238E27FC236}">
                <a16:creationId xmlns:a16="http://schemas.microsoft.com/office/drawing/2014/main" id="{F42AA30D-BB4B-9C7A-97A5-5CAC7AC030B8}"/>
              </a:ext>
            </a:extLst>
          </p:cNvPr>
          <p:cNvPicPr/>
          <p:nvPr/>
        </p:nvPicPr>
        <p:blipFill>
          <a:blip r:embed="rId3"/>
          <a:stretch>
            <a:fillRect/>
          </a:stretch>
        </p:blipFill>
        <p:spPr>
          <a:xfrm>
            <a:off x="1371600" y="727809"/>
            <a:ext cx="6400800" cy="3636010"/>
          </a:xfrm>
          <a:prstGeom prst="rect">
            <a:avLst/>
          </a:prstGeom>
        </p:spPr>
      </p:pic>
      <p:sp>
        <p:nvSpPr>
          <p:cNvPr id="32" name="TextBox 31">
            <a:extLst>
              <a:ext uri="{FF2B5EF4-FFF2-40B4-BE49-F238E27FC236}">
                <a16:creationId xmlns:a16="http://schemas.microsoft.com/office/drawing/2014/main" id="{DB7A5971-A9BA-B547-B3D5-E33CEDA36D53}"/>
              </a:ext>
            </a:extLst>
          </p:cNvPr>
          <p:cNvSpPr txBox="1"/>
          <p:nvPr/>
        </p:nvSpPr>
        <p:spPr>
          <a:xfrm>
            <a:off x="1371600" y="4552367"/>
            <a:ext cx="6710855" cy="1569660"/>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The homepage introduces the system “Deepfake Image Detection” and shows the goal of the project:</a:t>
            </a:r>
          </a:p>
          <a:p>
            <a:r>
              <a:rPr lang="en-US" sz="1600" dirty="0">
                <a:latin typeface="Times New Roman" panose="02020603050405020304" pitchFamily="18" charset="0"/>
                <a:cs typeface="Times New Roman" panose="02020603050405020304" pitchFamily="18" charset="0"/>
              </a:rPr>
              <a:t> • Provide an easy interface for users to upload any image. </a:t>
            </a:r>
          </a:p>
          <a:p>
            <a:r>
              <a:rPr lang="en-US" sz="1600" dirty="0">
                <a:latin typeface="Times New Roman" panose="02020603050405020304" pitchFamily="18" charset="0"/>
                <a:cs typeface="Times New Roman" panose="02020603050405020304" pitchFamily="18" charset="0"/>
              </a:rPr>
              <a:t>• Explain the two AI approaches used: o Capsule Network (spatial domain)              </a:t>
            </a:r>
            <a:r>
              <a:rPr lang="en-US" sz="1600" dirty="0" err="1">
                <a:latin typeface="Times New Roman" panose="02020603050405020304" pitchFamily="18" charset="0"/>
                <a:cs typeface="Times New Roman" panose="02020603050405020304" pitchFamily="18" charset="0"/>
              </a:rPr>
              <a:t>BiHPF</a:t>
            </a:r>
            <a:r>
              <a:rPr lang="en-US" sz="1600" dirty="0">
                <a:latin typeface="Times New Roman" panose="02020603050405020304" pitchFamily="18" charset="0"/>
                <a:cs typeface="Times New Roman" panose="02020603050405020304" pitchFamily="18" charset="0"/>
              </a:rPr>
              <a:t> Filter Model (frequency domain) </a:t>
            </a:r>
          </a:p>
          <a:p>
            <a:r>
              <a:rPr lang="en-US" sz="1600" dirty="0">
                <a:latin typeface="Times New Roman" panose="02020603050405020304" pitchFamily="18" charset="0"/>
                <a:cs typeface="Times New Roman" panose="02020603050405020304" pitchFamily="18" charset="0"/>
              </a:rPr>
              <a:t>• The design focuses on clarity, soft colors, and simple navigation.</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4134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222B7-7FBC-4B71-B334-2CA77BCA0868}"/>
              </a:ext>
            </a:extLst>
          </p:cNvPr>
          <p:cNvSpPr>
            <a:spLocks noGrp="1"/>
          </p:cNvSpPr>
          <p:nvPr>
            <p:ph type="title"/>
          </p:nvPr>
        </p:nvSpPr>
        <p:spPr>
          <a:xfrm>
            <a:off x="841456" y="105509"/>
            <a:ext cx="7704667" cy="433753"/>
          </a:xfrm>
        </p:spPr>
        <p:txBody>
          <a:bodyPr>
            <a:noAutofit/>
          </a:bodyPr>
          <a:lstStyle/>
          <a:p>
            <a:r>
              <a:rPr lang="en-IN" sz="3000" b="1" dirty="0">
                <a:latin typeface="Times New Roman" panose="02020603050405020304" pitchFamily="18" charset="0"/>
                <a:cs typeface="Times New Roman" panose="02020603050405020304" pitchFamily="18" charset="0"/>
              </a:rPr>
              <a:t>Detection Results </a:t>
            </a:r>
          </a:p>
        </p:txBody>
      </p:sp>
      <p:sp>
        <p:nvSpPr>
          <p:cNvPr id="4" name="Slide Number Placeholder 3">
            <a:extLst>
              <a:ext uri="{FF2B5EF4-FFF2-40B4-BE49-F238E27FC236}">
                <a16:creationId xmlns:a16="http://schemas.microsoft.com/office/drawing/2014/main" id="{3684971B-DADB-4FFC-AB18-6D7DF3BA40C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10</a:t>
            </a:fld>
            <a:endParaRPr lang="en-US" dirty="0"/>
          </a:p>
        </p:txBody>
      </p:sp>
      <p:pic>
        <p:nvPicPr>
          <p:cNvPr id="6" name="Google Shape;344;p29"/>
          <p:cNvPicPr preferRelativeResize="0"/>
          <p:nvPr/>
        </p:nvPicPr>
        <p:blipFill rotWithShape="1">
          <a:blip r:embed="rId2">
            <a:alphaModFix/>
          </a:blip>
          <a:srcRect/>
          <a:stretch/>
        </p:blipFill>
        <p:spPr>
          <a:xfrm>
            <a:off x="7927375" y="105509"/>
            <a:ext cx="851975" cy="622300"/>
          </a:xfrm>
          <a:prstGeom prst="rect">
            <a:avLst/>
          </a:prstGeom>
          <a:noFill/>
          <a:ln>
            <a:noFill/>
          </a:ln>
        </p:spPr>
      </p:pic>
      <p:pic>
        <p:nvPicPr>
          <p:cNvPr id="5" name="Picture 4">
            <a:extLst>
              <a:ext uri="{FF2B5EF4-FFF2-40B4-BE49-F238E27FC236}">
                <a16:creationId xmlns:a16="http://schemas.microsoft.com/office/drawing/2014/main" id="{F1F9AC1F-7119-93DC-BD53-A4DC60F0A6F2}"/>
              </a:ext>
            </a:extLst>
          </p:cNvPr>
          <p:cNvPicPr/>
          <p:nvPr/>
        </p:nvPicPr>
        <p:blipFill>
          <a:blip r:embed="rId3"/>
          <a:stretch>
            <a:fillRect/>
          </a:stretch>
        </p:blipFill>
        <p:spPr>
          <a:xfrm>
            <a:off x="1298028" y="832913"/>
            <a:ext cx="6400800" cy="3631565"/>
          </a:xfrm>
          <a:prstGeom prst="rect">
            <a:avLst/>
          </a:prstGeom>
        </p:spPr>
      </p:pic>
      <p:sp>
        <p:nvSpPr>
          <p:cNvPr id="8" name="TextBox 7">
            <a:extLst>
              <a:ext uri="{FF2B5EF4-FFF2-40B4-BE49-F238E27FC236}">
                <a16:creationId xmlns:a16="http://schemas.microsoft.com/office/drawing/2014/main" id="{CB3E98DD-B4CA-CBF6-1C89-8E283FB7975F}"/>
              </a:ext>
            </a:extLst>
          </p:cNvPr>
          <p:cNvSpPr txBox="1"/>
          <p:nvPr/>
        </p:nvSpPr>
        <p:spPr>
          <a:xfrm>
            <a:off x="1343160" y="4547759"/>
            <a:ext cx="6915807" cy="1569660"/>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After an image is uploaded, the system shows: </a:t>
            </a:r>
          </a:p>
          <a:p>
            <a:r>
              <a:rPr lang="en-US" sz="1600" dirty="0">
                <a:latin typeface="Times New Roman" panose="02020603050405020304" pitchFamily="18" charset="0"/>
                <a:cs typeface="Times New Roman" panose="02020603050405020304" pitchFamily="18" charset="0"/>
              </a:rPr>
              <a:t> • The uploaded image preview • Capsule Network result with confidence  percentage</a:t>
            </a:r>
          </a:p>
          <a:p>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BiHPF</a:t>
            </a:r>
            <a:r>
              <a:rPr lang="en-US" sz="1600" dirty="0">
                <a:latin typeface="Times New Roman" panose="02020603050405020304" pitchFamily="18" charset="0"/>
                <a:cs typeface="Times New Roman" panose="02020603050405020304" pitchFamily="18" charset="0"/>
              </a:rPr>
              <a:t> result with confidence percentage</a:t>
            </a:r>
          </a:p>
          <a:p>
            <a:r>
              <a:rPr lang="en-US" sz="1600" dirty="0">
                <a:latin typeface="Times New Roman" panose="02020603050405020304" pitchFamily="18" charset="0"/>
                <a:cs typeface="Times New Roman" panose="02020603050405020304" pitchFamily="18" charset="0"/>
              </a:rPr>
              <a:t> • Final verdict calculated from combined confidence This high-level design ensures transparency and gives the user clear model outputs. </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889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2"/>
            <a:ext cx="7704667" cy="844824"/>
          </a:xfrm>
        </p:spPr>
        <p:txBody>
          <a:bodyPr>
            <a:normAutofit/>
          </a:bodyPr>
          <a:lstStyle/>
          <a:p>
            <a:r>
              <a:rPr lang="en-IN" sz="3200" b="1" dirty="0">
                <a:latin typeface="Times New Roman" panose="02020603050405020304" pitchFamily="18" charset="0"/>
                <a:cs typeface="Times New Roman" panose="02020603050405020304" pitchFamily="18" charset="0"/>
              </a:rPr>
              <a:t>IMPLIMENTATION</a:t>
            </a:r>
          </a:p>
        </p:txBody>
      </p:sp>
      <p:sp>
        <p:nvSpPr>
          <p:cNvPr id="3" name="Content Placeholder 2"/>
          <p:cNvSpPr>
            <a:spLocks noGrp="1"/>
          </p:cNvSpPr>
          <p:nvPr>
            <p:ph idx="1"/>
          </p:nvPr>
        </p:nvSpPr>
        <p:spPr>
          <a:xfrm>
            <a:off x="755375" y="1202635"/>
            <a:ext cx="7931426" cy="5396947"/>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Models Used:</a:t>
            </a:r>
          </a:p>
          <a:p>
            <a:pPr marL="0" indent="0">
              <a:buNone/>
            </a:pPr>
            <a:r>
              <a:rPr lang="en-US" sz="1800" b="1" dirty="0">
                <a:latin typeface="Times New Roman" panose="02020603050405020304" pitchFamily="18" charset="0"/>
                <a:cs typeface="Times New Roman" panose="02020603050405020304" pitchFamily="18" charset="0"/>
              </a:rPr>
              <a:t>1. RoBERTa</a:t>
            </a:r>
          </a:p>
          <a:p>
            <a:r>
              <a:rPr lang="en-US" sz="1800" b="1" dirty="0">
                <a:latin typeface="Times New Roman" panose="02020603050405020304" pitchFamily="18" charset="0"/>
                <a:cs typeface="Times New Roman" panose="02020603050405020304" pitchFamily="18" charset="0"/>
              </a:rPr>
              <a:t>Pre-trained Transformer Model</a:t>
            </a:r>
            <a:r>
              <a:rPr lang="en-US" sz="1800" dirty="0">
                <a:latin typeface="Times New Roman" panose="02020603050405020304" pitchFamily="18" charset="0"/>
                <a:cs typeface="Times New Roman" panose="02020603050405020304" pitchFamily="18" charset="0"/>
              </a:rPr>
              <a:t>:</a:t>
            </a:r>
          </a:p>
          <a:p>
            <a:pPr lvl="1"/>
            <a:r>
              <a:rPr lang="en-US" sz="1800" dirty="0">
                <a:latin typeface="Times New Roman" panose="02020603050405020304" pitchFamily="18" charset="0"/>
                <a:cs typeface="Times New Roman" panose="02020603050405020304" pitchFamily="18" charset="0"/>
              </a:rPr>
              <a:t>Trained on a large corpus using masked language modeling.</a:t>
            </a:r>
          </a:p>
          <a:p>
            <a:pPr lvl="1"/>
            <a:r>
              <a:rPr lang="en-US" sz="1800" dirty="0">
                <a:latin typeface="Times New Roman" panose="02020603050405020304" pitchFamily="18" charset="0"/>
                <a:cs typeface="Times New Roman" panose="02020603050405020304" pitchFamily="18" charset="0"/>
              </a:rPr>
              <a:t>Provides contextual embeddings for each word in a sentence.</a:t>
            </a:r>
          </a:p>
          <a:p>
            <a:pPr lvl="1"/>
            <a:r>
              <a:rPr lang="en-US" sz="1800" dirty="0">
                <a:latin typeface="Times New Roman" panose="02020603050405020304" pitchFamily="18" charset="0"/>
                <a:cs typeface="Times New Roman" panose="02020603050405020304" pitchFamily="18" charset="0"/>
              </a:rPr>
              <a:t>Used as a feature extractor (weights frozen during training).</a:t>
            </a:r>
          </a:p>
          <a:p>
            <a:pPr marL="0" indent="0">
              <a:buNone/>
            </a:pPr>
            <a:r>
              <a:rPr lang="en-US" sz="1800" b="1" dirty="0">
                <a:latin typeface="Times New Roman" panose="02020603050405020304" pitchFamily="18" charset="0"/>
                <a:cs typeface="Times New Roman" panose="02020603050405020304" pitchFamily="18" charset="0"/>
              </a:rPr>
              <a:t>2. GRU (Gated Recurrent Unit)</a:t>
            </a:r>
          </a:p>
          <a:p>
            <a:r>
              <a:rPr lang="en-US" sz="1800" dirty="0">
                <a:latin typeface="Times New Roman" panose="02020603050405020304" pitchFamily="18" charset="0"/>
                <a:cs typeface="Times New Roman" panose="02020603050405020304" pitchFamily="18" charset="0"/>
              </a:rPr>
              <a:t>A type of recurrent neural network (RNN):</a:t>
            </a:r>
          </a:p>
          <a:p>
            <a:pPr lvl="1"/>
            <a:r>
              <a:rPr lang="en-US" sz="1800" dirty="0">
                <a:latin typeface="Times New Roman" panose="02020603050405020304" pitchFamily="18" charset="0"/>
                <a:cs typeface="Times New Roman" panose="02020603050405020304" pitchFamily="18" charset="0"/>
              </a:rPr>
              <a:t>Efficiently models sequential data.</a:t>
            </a:r>
          </a:p>
          <a:p>
            <a:pPr lvl="1"/>
            <a:r>
              <a:rPr lang="en-US" sz="1800" dirty="0">
                <a:latin typeface="Times New Roman" panose="02020603050405020304" pitchFamily="18" charset="0"/>
                <a:cs typeface="Times New Roman" panose="02020603050405020304" pitchFamily="18" charset="0"/>
              </a:rPr>
              <a:t>Captures dependencies between words in a sentence.</a:t>
            </a:r>
          </a:p>
          <a:p>
            <a:pPr lvl="1"/>
            <a:r>
              <a:rPr lang="en-US" sz="1800" dirty="0">
                <a:latin typeface="Times New Roman" panose="02020603050405020304" pitchFamily="18" charset="0"/>
                <a:cs typeface="Times New Roman" panose="02020603050405020304" pitchFamily="18" charset="0"/>
              </a:rPr>
              <a:t>Processes the embeddings from RoBERTa.</a:t>
            </a:r>
          </a:p>
          <a:p>
            <a:pPr marL="0" indent="0">
              <a:buNone/>
            </a:pPr>
            <a:r>
              <a:rPr lang="en-US" sz="1800" b="1" dirty="0">
                <a:latin typeface="Times New Roman" panose="02020603050405020304" pitchFamily="18" charset="0"/>
                <a:cs typeface="Times New Roman" panose="02020603050405020304" pitchFamily="18" charset="0"/>
              </a:rPr>
              <a:t>3. Fully Connected Layer</a:t>
            </a:r>
          </a:p>
          <a:p>
            <a:r>
              <a:rPr lang="en-US" sz="1800" dirty="0">
                <a:latin typeface="Times New Roman" panose="02020603050405020304" pitchFamily="18" charset="0"/>
                <a:cs typeface="Times New Roman" panose="02020603050405020304" pitchFamily="18" charset="0"/>
              </a:rPr>
              <a:t>Maps the final GRU hidden state to two output classes (positive and negative sentiment).</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11</a:t>
            </a:fld>
            <a:endParaRPr lang="en-US" dirty="0"/>
          </a:p>
        </p:txBody>
      </p:sp>
    </p:spTree>
    <p:extLst>
      <p:ext uri="{BB962C8B-B14F-4D97-AF65-F5344CB8AC3E}">
        <p14:creationId xmlns:p14="http://schemas.microsoft.com/office/powerpoint/2010/main" val="1830919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377688"/>
            <a:ext cx="7704667" cy="765312"/>
          </a:xfrm>
        </p:spPr>
        <p:txBody>
          <a:bodyPr>
            <a:normAutofit/>
          </a:bodyPr>
          <a:lstStyle/>
          <a:p>
            <a:r>
              <a:rPr lang="en-IN" sz="3000" dirty="0">
                <a:latin typeface="Times New Roman" panose="02020603050405020304" pitchFamily="18" charset="0"/>
                <a:cs typeface="Times New Roman" panose="02020603050405020304" pitchFamily="18" charset="0"/>
              </a:rPr>
              <a:t>Dataset &amp; Upload Section </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12</a:t>
            </a:fld>
            <a:endParaRPr lang="en-US" dirty="0"/>
          </a:p>
        </p:txBody>
      </p:sp>
      <p:pic>
        <p:nvPicPr>
          <p:cNvPr id="7" name="Picture 6">
            <a:extLst>
              <a:ext uri="{FF2B5EF4-FFF2-40B4-BE49-F238E27FC236}">
                <a16:creationId xmlns:a16="http://schemas.microsoft.com/office/drawing/2014/main" id="{4507A15C-E238-4500-8FD7-1EB05A024B3A}"/>
              </a:ext>
            </a:extLst>
          </p:cNvPr>
          <p:cNvPicPr/>
          <p:nvPr/>
        </p:nvPicPr>
        <p:blipFill>
          <a:blip r:embed="rId2"/>
          <a:stretch>
            <a:fillRect/>
          </a:stretch>
        </p:blipFill>
        <p:spPr>
          <a:xfrm>
            <a:off x="1371600" y="1222112"/>
            <a:ext cx="6400800" cy="3636010"/>
          </a:xfrm>
          <a:prstGeom prst="rect">
            <a:avLst/>
          </a:prstGeom>
        </p:spPr>
      </p:pic>
      <p:sp>
        <p:nvSpPr>
          <p:cNvPr id="9" name="TextBox 8">
            <a:extLst>
              <a:ext uri="{FF2B5EF4-FFF2-40B4-BE49-F238E27FC236}">
                <a16:creationId xmlns:a16="http://schemas.microsoft.com/office/drawing/2014/main" id="{A1B4FF03-927E-3FA0-A4D5-DD4ADDAE8E9E}"/>
              </a:ext>
            </a:extLst>
          </p:cNvPr>
          <p:cNvSpPr txBox="1"/>
          <p:nvPr/>
        </p:nvSpPr>
        <p:spPr>
          <a:xfrm>
            <a:off x="1681654" y="4937234"/>
            <a:ext cx="6716111" cy="1323439"/>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This part of the UI displays: </a:t>
            </a:r>
          </a:p>
          <a:p>
            <a:r>
              <a:rPr lang="en-US" sz="1600" dirty="0">
                <a:latin typeface="Times New Roman" panose="02020603050405020304" pitchFamily="18" charset="0"/>
                <a:cs typeface="Times New Roman" panose="02020603050405020304" pitchFamily="18" charset="0"/>
              </a:rPr>
              <a:t> • Dataset description (14,000 images: real + fake)</a:t>
            </a:r>
          </a:p>
          <a:p>
            <a:r>
              <a:rPr lang="en-US" sz="1600" dirty="0">
                <a:latin typeface="Times New Roman" panose="02020603050405020304" pitchFamily="18" charset="0"/>
                <a:cs typeface="Times New Roman" panose="02020603050405020304" pitchFamily="18" charset="0"/>
              </a:rPr>
              <a:t> • The upload component for new analysis</a:t>
            </a:r>
          </a:p>
          <a:p>
            <a:r>
              <a:rPr lang="en-US" sz="1600" dirty="0">
                <a:latin typeface="Times New Roman" panose="02020603050405020304" pitchFamily="18" charset="0"/>
                <a:cs typeface="Times New Roman" panose="02020603050405020304" pitchFamily="18" charset="0"/>
              </a:rPr>
              <a:t> • Realtime display of the image uploaded by the user This design highlights dataset details and provides a consistent structure for user interaction.</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5939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4071" y="5858068"/>
            <a:ext cx="7364896" cy="616783"/>
          </a:xfrm>
        </p:spPr>
        <p:txBody>
          <a:bodyPr>
            <a:noAutofit/>
          </a:bodyPr>
          <a:lstStyle/>
          <a:p>
            <a:r>
              <a:rPr lang="en-US" sz="1800" b="1" dirty="0">
                <a:latin typeface="Times New Roman" panose="02020603050405020304" pitchFamily="18" charset="0"/>
                <a:cs typeface="Times New Roman" panose="02020603050405020304" pitchFamily="18" charset="0"/>
              </a:rPr>
              <a:t>Fig.1</a:t>
            </a:r>
            <a:r>
              <a:rPr lang="en-US" sz="2400" b="1" dirty="0">
                <a:latin typeface="Times New Roman" panose="02020603050405020304" pitchFamily="18" charset="0"/>
                <a:cs typeface="Times New Roman" panose="02020603050405020304" pitchFamily="18" charset="0"/>
              </a:rPr>
              <a:t> The architecture of the proposed RoBERTa-GRU model</a:t>
            </a:r>
            <a:endParaRPr lang="en-IN" sz="24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13</a:t>
            </a:fld>
            <a:endParaRPr lang="en-US" dirty="0"/>
          </a:p>
        </p:txBody>
      </p:sp>
      <p:sp>
        <p:nvSpPr>
          <p:cNvPr id="7" name="Content Placeholder 8"/>
          <p:cNvSpPr txBox="1">
            <a:spLocks noGrp="1"/>
          </p:cNvSpPr>
          <p:nvPr>
            <p:ph idx="1"/>
          </p:nvPr>
        </p:nvSpPr>
        <p:spPr>
          <a:xfrm>
            <a:off x="2372303" y="374919"/>
            <a:ext cx="5075504" cy="606287"/>
          </a:xfrm>
          <a:prstGeom prst="roundRect">
            <a:avLst/>
          </a:prstGeom>
          <a:noFill/>
          <a:ln w="38100" cap="rnd" cmpd="sng" algn="ctr">
            <a:solidFill>
              <a:schemeClr val="tx1"/>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lt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lt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lt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lt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lt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lt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lt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lt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lt1"/>
                </a:solidFill>
                <a:effectLst/>
                <a:latin typeface="+mn-lt"/>
                <a:ea typeface="+mn-ea"/>
                <a:cs typeface="+mn-cs"/>
              </a:defRPr>
            </a:lvl9pPr>
          </a:lstStyle>
          <a:p>
            <a:pPr marL="0" indent="0" algn="ctr">
              <a:buNone/>
            </a:pPr>
            <a:r>
              <a:rPr lang="en-IN" b="1" dirty="0">
                <a:solidFill>
                  <a:schemeClr val="tx1"/>
                </a:solidFill>
                <a:latin typeface="Times New Roman" panose="02020603050405020304" pitchFamily="18" charset="0"/>
                <a:cs typeface="Times New Roman" panose="02020603050405020304" pitchFamily="18" charset="0"/>
              </a:rPr>
              <a:t>Classification Layer</a:t>
            </a:r>
          </a:p>
        </p:txBody>
      </p:sp>
      <p:sp>
        <p:nvSpPr>
          <p:cNvPr id="8" name="Content Placeholder 8"/>
          <p:cNvSpPr txBox="1">
            <a:spLocks/>
          </p:cNvSpPr>
          <p:nvPr/>
        </p:nvSpPr>
        <p:spPr>
          <a:xfrm>
            <a:off x="2372303" y="2560859"/>
            <a:ext cx="5075504" cy="606287"/>
          </a:xfrm>
          <a:prstGeom prst="roundRect">
            <a:avLst/>
          </a:prstGeom>
          <a:noFill/>
          <a:ln w="38100" cap="rnd" cmpd="sng" algn="ctr">
            <a:solidFill>
              <a:schemeClr val="tx1"/>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lt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lt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lt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lt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lt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lt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lt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lt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lt1"/>
                </a:solidFill>
                <a:effectLst/>
                <a:latin typeface="+mn-lt"/>
                <a:ea typeface="+mn-ea"/>
                <a:cs typeface="+mn-cs"/>
              </a:defRPr>
            </a:lvl9pPr>
          </a:lstStyle>
          <a:p>
            <a:pPr marL="0" indent="0" algn="ctr">
              <a:buFont typeface="Arial"/>
              <a:buNone/>
            </a:pPr>
            <a:r>
              <a:rPr lang="en-IN" b="1" dirty="0">
                <a:solidFill>
                  <a:schemeClr val="tx1"/>
                </a:solidFill>
                <a:latin typeface="Times New Roman" panose="02020603050405020304" pitchFamily="18" charset="0"/>
                <a:cs typeface="Times New Roman" panose="02020603050405020304" pitchFamily="18" charset="0"/>
              </a:rPr>
              <a:t>Gated Recurrent Unit</a:t>
            </a:r>
          </a:p>
        </p:txBody>
      </p:sp>
      <p:sp>
        <p:nvSpPr>
          <p:cNvPr id="9" name="Content Placeholder 8"/>
          <p:cNvSpPr txBox="1">
            <a:spLocks/>
          </p:cNvSpPr>
          <p:nvPr/>
        </p:nvSpPr>
        <p:spPr>
          <a:xfrm>
            <a:off x="2372303" y="1501783"/>
            <a:ext cx="5075504" cy="606287"/>
          </a:xfrm>
          <a:prstGeom prst="roundRect">
            <a:avLst/>
          </a:prstGeom>
          <a:noFill/>
          <a:ln w="38100" cap="rnd" cmpd="sng" algn="ctr">
            <a:solidFill>
              <a:schemeClr val="tx1"/>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lt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lt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lt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lt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lt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lt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lt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lt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lt1"/>
                </a:solidFill>
                <a:effectLst/>
                <a:latin typeface="+mn-lt"/>
                <a:ea typeface="+mn-ea"/>
                <a:cs typeface="+mn-cs"/>
              </a:defRPr>
            </a:lvl9pPr>
          </a:lstStyle>
          <a:p>
            <a:pPr marL="0" indent="0" algn="ctr">
              <a:buFont typeface="Arial"/>
              <a:buNone/>
            </a:pPr>
            <a:r>
              <a:rPr lang="en-IN" b="1" dirty="0">
                <a:solidFill>
                  <a:schemeClr val="tx1"/>
                </a:solidFill>
                <a:latin typeface="Times New Roman" panose="02020603050405020304" pitchFamily="18" charset="0"/>
                <a:cs typeface="Times New Roman" panose="02020603050405020304" pitchFamily="18" charset="0"/>
              </a:rPr>
              <a:t>Dense Layer</a:t>
            </a:r>
          </a:p>
        </p:txBody>
      </p:sp>
      <p:sp>
        <p:nvSpPr>
          <p:cNvPr id="10" name="Content Placeholder 8"/>
          <p:cNvSpPr txBox="1">
            <a:spLocks/>
          </p:cNvSpPr>
          <p:nvPr/>
        </p:nvSpPr>
        <p:spPr>
          <a:xfrm>
            <a:off x="2372303" y="3689751"/>
            <a:ext cx="5075504" cy="606287"/>
          </a:xfrm>
          <a:prstGeom prst="roundRect">
            <a:avLst/>
          </a:prstGeom>
          <a:noFill/>
          <a:ln w="38100" cap="rnd" cmpd="sng" algn="ctr">
            <a:solidFill>
              <a:schemeClr val="tx1"/>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lt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lt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lt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lt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lt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lt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lt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lt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lt1"/>
                </a:solidFill>
                <a:effectLst/>
                <a:latin typeface="+mn-lt"/>
                <a:ea typeface="+mn-ea"/>
                <a:cs typeface="+mn-cs"/>
              </a:defRPr>
            </a:lvl9pPr>
          </a:lstStyle>
          <a:p>
            <a:pPr marL="0" indent="0" algn="ctr">
              <a:buFont typeface="Arial"/>
              <a:buNone/>
            </a:pPr>
            <a:r>
              <a:rPr lang="en-IN" b="1" dirty="0">
                <a:solidFill>
                  <a:schemeClr val="tx1"/>
                </a:solidFill>
                <a:latin typeface="Times New Roman" panose="02020603050405020304" pitchFamily="18" charset="0"/>
                <a:cs typeface="Times New Roman" panose="02020603050405020304" pitchFamily="18" charset="0"/>
              </a:rPr>
              <a:t>RoBERTa </a:t>
            </a:r>
          </a:p>
        </p:txBody>
      </p:sp>
      <p:sp>
        <p:nvSpPr>
          <p:cNvPr id="11" name="Flowchart: Process 10"/>
          <p:cNvSpPr/>
          <p:nvPr/>
        </p:nvSpPr>
        <p:spPr>
          <a:xfrm>
            <a:off x="3039715" y="4783054"/>
            <a:ext cx="238539" cy="238539"/>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Flowchart: Process 11"/>
          <p:cNvSpPr/>
          <p:nvPr/>
        </p:nvSpPr>
        <p:spPr>
          <a:xfrm>
            <a:off x="3039715" y="5031530"/>
            <a:ext cx="238539" cy="238539"/>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Flowchart: Process 20"/>
          <p:cNvSpPr/>
          <p:nvPr/>
        </p:nvSpPr>
        <p:spPr>
          <a:xfrm>
            <a:off x="3998842" y="4783055"/>
            <a:ext cx="238539" cy="238539"/>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Flowchart: Process 21"/>
          <p:cNvSpPr/>
          <p:nvPr/>
        </p:nvSpPr>
        <p:spPr>
          <a:xfrm>
            <a:off x="5145156" y="4783053"/>
            <a:ext cx="238539" cy="238539"/>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3" name="Flowchart: Process 22"/>
          <p:cNvSpPr/>
          <p:nvPr/>
        </p:nvSpPr>
        <p:spPr>
          <a:xfrm>
            <a:off x="6268281" y="5028065"/>
            <a:ext cx="238539" cy="238539"/>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Flowchart: Process 23"/>
          <p:cNvSpPr/>
          <p:nvPr/>
        </p:nvSpPr>
        <p:spPr>
          <a:xfrm>
            <a:off x="3998842" y="5031531"/>
            <a:ext cx="238539" cy="238539"/>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Flowchart: Process 24"/>
          <p:cNvSpPr/>
          <p:nvPr/>
        </p:nvSpPr>
        <p:spPr>
          <a:xfrm>
            <a:off x="5145155" y="5017739"/>
            <a:ext cx="238539" cy="238539"/>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Flowchart: Process 25"/>
          <p:cNvSpPr/>
          <p:nvPr/>
        </p:nvSpPr>
        <p:spPr>
          <a:xfrm>
            <a:off x="6268281" y="4780156"/>
            <a:ext cx="238539" cy="238539"/>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8" name="Straight Arrow Connector 27"/>
          <p:cNvCxnSpPr/>
          <p:nvPr/>
        </p:nvCxnSpPr>
        <p:spPr>
          <a:xfrm flipV="1">
            <a:off x="3150705" y="4296038"/>
            <a:ext cx="0" cy="47707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V="1">
            <a:off x="4118112" y="4296038"/>
            <a:ext cx="0" cy="47707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5264426" y="4296038"/>
            <a:ext cx="0" cy="47707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6374296" y="4296038"/>
            <a:ext cx="0" cy="47707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itle 1"/>
          <p:cNvSpPr txBox="1">
            <a:spLocks/>
          </p:cNvSpPr>
          <p:nvPr/>
        </p:nvSpPr>
        <p:spPr>
          <a:xfrm>
            <a:off x="2739349" y="5297630"/>
            <a:ext cx="861141" cy="448917"/>
          </a:xfrm>
          <a:prstGeom prst="rect">
            <a:avLst/>
          </a:prstGeom>
          <a:effectLst/>
        </p:spPr>
        <p:txBody>
          <a:bodyPr vert="horz" lIns="91440" tIns="45720" rIns="91440" bIns="45720" rtlCol="0" anchor="ctr">
            <a:normAutofit fontScale="60000" lnSpcReduction="200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latin typeface="Times New Roman" panose="02020603050405020304" pitchFamily="18" charset="0"/>
                <a:cs typeface="Times New Roman" panose="02020603050405020304" pitchFamily="18" charset="0"/>
              </a:rPr>
              <a:t>token </a:t>
            </a:r>
          </a:p>
        </p:txBody>
      </p:sp>
      <p:sp>
        <p:nvSpPr>
          <p:cNvPr id="35" name="Title 1"/>
          <p:cNvSpPr txBox="1">
            <a:spLocks/>
          </p:cNvSpPr>
          <p:nvPr/>
        </p:nvSpPr>
        <p:spPr>
          <a:xfrm>
            <a:off x="3687540" y="5282036"/>
            <a:ext cx="861141" cy="448917"/>
          </a:xfrm>
          <a:prstGeom prst="rect">
            <a:avLst/>
          </a:prstGeom>
          <a:effectLst/>
        </p:spPr>
        <p:txBody>
          <a:bodyPr vert="horz" lIns="91440" tIns="45720" rIns="91440" bIns="45720" rtlCol="0" anchor="ctr">
            <a:normAutofit fontScale="60000" lnSpcReduction="200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latin typeface="Times New Roman" panose="02020603050405020304" pitchFamily="18" charset="0"/>
                <a:cs typeface="Times New Roman" panose="02020603050405020304" pitchFamily="18" charset="0"/>
              </a:rPr>
              <a:t>token </a:t>
            </a:r>
          </a:p>
        </p:txBody>
      </p:sp>
      <p:sp>
        <p:nvSpPr>
          <p:cNvPr id="36" name="Title 1"/>
          <p:cNvSpPr txBox="1">
            <a:spLocks/>
          </p:cNvSpPr>
          <p:nvPr/>
        </p:nvSpPr>
        <p:spPr>
          <a:xfrm>
            <a:off x="5985011" y="5251505"/>
            <a:ext cx="861141" cy="448917"/>
          </a:xfrm>
          <a:prstGeom prst="rect">
            <a:avLst/>
          </a:prstGeom>
          <a:effectLst/>
        </p:spPr>
        <p:txBody>
          <a:bodyPr vert="horz" lIns="91440" tIns="45720" rIns="91440" bIns="45720" rtlCol="0" anchor="ctr">
            <a:normAutofit fontScale="60000" lnSpcReduction="200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latin typeface="Times New Roman" panose="02020603050405020304" pitchFamily="18" charset="0"/>
                <a:cs typeface="Times New Roman" panose="02020603050405020304" pitchFamily="18" charset="0"/>
              </a:rPr>
              <a:t>token </a:t>
            </a:r>
          </a:p>
        </p:txBody>
      </p:sp>
      <p:sp>
        <p:nvSpPr>
          <p:cNvPr id="37" name="Title 1"/>
          <p:cNvSpPr txBox="1">
            <a:spLocks/>
          </p:cNvSpPr>
          <p:nvPr/>
        </p:nvSpPr>
        <p:spPr>
          <a:xfrm>
            <a:off x="4886901" y="5263105"/>
            <a:ext cx="861141" cy="448917"/>
          </a:xfrm>
          <a:prstGeom prst="rect">
            <a:avLst/>
          </a:prstGeom>
          <a:effectLst/>
        </p:spPr>
        <p:txBody>
          <a:bodyPr vert="horz" lIns="91440" tIns="45720" rIns="91440" bIns="45720" rtlCol="0" anchor="ctr">
            <a:normAutofit fontScale="60000" lnSpcReduction="200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latin typeface="Times New Roman" panose="02020603050405020304" pitchFamily="18" charset="0"/>
                <a:cs typeface="Times New Roman" panose="02020603050405020304" pitchFamily="18" charset="0"/>
              </a:rPr>
              <a:t>token </a:t>
            </a:r>
          </a:p>
        </p:txBody>
      </p:sp>
      <p:sp>
        <p:nvSpPr>
          <p:cNvPr id="38" name="Title 1"/>
          <p:cNvSpPr txBox="1">
            <a:spLocks/>
          </p:cNvSpPr>
          <p:nvPr/>
        </p:nvSpPr>
        <p:spPr>
          <a:xfrm>
            <a:off x="1693226" y="4717478"/>
            <a:ext cx="1341610" cy="363893"/>
          </a:xfrm>
          <a:prstGeom prst="rect">
            <a:avLst/>
          </a:prstGeom>
          <a:effectLst/>
        </p:spPr>
        <p:txBody>
          <a:bodyPr vert="horz" lIns="91440" tIns="45720" rIns="91440" bIns="45720" rtlCol="0" anchor="ctr">
            <a:normAutofit fontScale="975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200" b="1" dirty="0">
                <a:latin typeface="Times New Roman" panose="02020603050405020304" pitchFamily="18" charset="0"/>
                <a:cs typeface="Times New Roman" panose="02020603050405020304" pitchFamily="18" charset="0"/>
              </a:rPr>
              <a:t>Attention _mask </a:t>
            </a:r>
          </a:p>
        </p:txBody>
      </p:sp>
      <p:sp>
        <p:nvSpPr>
          <p:cNvPr id="39" name="Title 1"/>
          <p:cNvSpPr txBox="1">
            <a:spLocks/>
          </p:cNvSpPr>
          <p:nvPr/>
        </p:nvSpPr>
        <p:spPr>
          <a:xfrm>
            <a:off x="1860528" y="4940981"/>
            <a:ext cx="1341610" cy="363893"/>
          </a:xfrm>
          <a:prstGeom prst="rect">
            <a:avLst/>
          </a:prstGeom>
          <a:effectLst/>
        </p:spPr>
        <p:txBody>
          <a:bodyPr vert="horz" lIns="91440" tIns="45720" rIns="91440" bIns="45720" rtlCol="0" anchor="ctr">
            <a:normAutofit fontScale="975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200" b="1" dirty="0">
                <a:latin typeface="Times New Roman" panose="02020603050405020304" pitchFamily="18" charset="0"/>
                <a:cs typeface="Times New Roman" panose="02020603050405020304" pitchFamily="18" charset="0"/>
              </a:rPr>
              <a:t>Input_ids</a:t>
            </a:r>
          </a:p>
        </p:txBody>
      </p:sp>
      <p:cxnSp>
        <p:nvCxnSpPr>
          <p:cNvPr id="41" name="Straight Arrow Connector 40"/>
          <p:cNvCxnSpPr>
            <a:stCxn id="10" idx="0"/>
            <a:endCxn id="8" idx="2"/>
          </p:cNvCxnSpPr>
          <p:nvPr/>
        </p:nvCxnSpPr>
        <p:spPr>
          <a:xfrm flipV="1">
            <a:off x="4910055" y="3167146"/>
            <a:ext cx="0" cy="52260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8" idx="0"/>
          </p:cNvCxnSpPr>
          <p:nvPr/>
        </p:nvCxnSpPr>
        <p:spPr>
          <a:xfrm flipH="1" flipV="1">
            <a:off x="4900155" y="2119937"/>
            <a:ext cx="9900" cy="44092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9" idx="0"/>
          </p:cNvCxnSpPr>
          <p:nvPr/>
        </p:nvCxnSpPr>
        <p:spPr>
          <a:xfrm flipH="1" flipV="1">
            <a:off x="4900155" y="1007313"/>
            <a:ext cx="9900" cy="4944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4516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251403"/>
            <a:ext cx="7704667" cy="983973"/>
          </a:xfrm>
        </p:spPr>
        <p:txBody>
          <a:bodyPr>
            <a:normAutofit/>
          </a:bodyPr>
          <a:lstStyle/>
          <a:p>
            <a:r>
              <a:rPr lang="en-IN" sz="3000" b="1" dirty="0">
                <a:latin typeface="Times New Roman" panose="02020603050405020304" pitchFamily="18" charset="0"/>
                <a:cs typeface="Times New Roman" panose="02020603050405020304" pitchFamily="18" charset="0"/>
              </a:rPr>
              <a:t>Algorithm used for implementation </a:t>
            </a:r>
          </a:p>
        </p:txBody>
      </p:sp>
      <p:sp>
        <p:nvSpPr>
          <p:cNvPr id="3" name="Content Placeholder 2"/>
          <p:cNvSpPr>
            <a:spLocks noGrp="1"/>
          </p:cNvSpPr>
          <p:nvPr>
            <p:ph idx="1"/>
          </p:nvPr>
        </p:nvSpPr>
        <p:spPr>
          <a:xfrm>
            <a:off x="982133" y="886427"/>
            <a:ext cx="7704667" cy="5237922"/>
          </a:xfrm>
        </p:spPr>
        <p:txBody>
          <a:bodyPr>
            <a:noAutofit/>
          </a:bodyPr>
          <a:lstStyle/>
          <a:p>
            <a:pPr marL="0" indent="0">
              <a:buNone/>
            </a:pPr>
            <a:r>
              <a:rPr lang="en-US" sz="1800" dirty="0">
                <a:latin typeface="Times New Roman" panose="02020603050405020304" pitchFamily="18" charset="0"/>
                <a:cs typeface="Times New Roman" panose="02020603050405020304" pitchFamily="18" charset="0"/>
              </a:rPr>
              <a:t>The core algorithm used in this project is a Convolutional Neural Network (CNN)-based Binary Classification Algorithm. CNNs are chosen because they excel in extracting hierarchical features from images and identifying subtle inconsistencies created during deepfake synthesis. The algorithm works by scanning the input face using convolutional filters, progressively building feature maps that represent edges, contours, skin texture patterns, and irregular GAN-generated distortions. The algorithm starts by feeding the preprocessed image through several convolution and pooling layers that detect local patterns. These patterns are then combined in deeper layers where the network learns how manipulated images differ from real images in terms of blending quality, color distribution, pixel correlation, and frequency inconsistencies. Finally, the flattened features are passed to fully connected layers, and a sigmoid activation function is used to classify the image into two categories. This deep-learning approach is significantly better than older handcrafted-feature methods, as it adapts automatically to new types of fake images and continues to improve as more training data is added.</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14</a:t>
            </a:fld>
            <a:endParaRPr lang="en-US" dirty="0"/>
          </a:p>
        </p:txBody>
      </p:sp>
    </p:spTree>
    <p:extLst>
      <p:ext uri="{BB962C8B-B14F-4D97-AF65-F5344CB8AC3E}">
        <p14:creationId xmlns:p14="http://schemas.microsoft.com/office/powerpoint/2010/main" val="914415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p:cNvSpPr txBox="1">
            <a:spLocks/>
          </p:cNvSpPr>
          <p:nvPr/>
        </p:nvSpPr>
        <p:spPr>
          <a:xfrm>
            <a:off x="574628" y="298174"/>
            <a:ext cx="7704667" cy="506895"/>
          </a:xfrm>
          <a:prstGeom prst="rect">
            <a:avLst/>
          </a:prstGeom>
          <a:effectLst/>
        </p:spPr>
        <p:txBody>
          <a:bodyPr vert="horz" lIns="91440" tIns="45720" rIns="91440" bIns="45720" rtlCol="0" anchor="ctr">
            <a:no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b="1" dirty="0">
                <a:latin typeface="Times New Roman" panose="02020603050405020304" pitchFamily="18" charset="0"/>
                <a:cs typeface="Times New Roman" panose="02020603050405020304" pitchFamily="18" charset="0"/>
              </a:rPr>
              <a:t>Quantitative Results </a:t>
            </a:r>
            <a:endParaRPr lang="en-IN" sz="3000" b="1" dirty="0">
              <a:latin typeface="Times New Roman" panose="02020603050405020304" pitchFamily="18" charset="0"/>
              <a:cs typeface="Times New Roman" panose="02020603050405020304" pitchFamily="18" charset="0"/>
            </a:endParaRPr>
          </a:p>
        </p:txBody>
      </p:sp>
      <p:sp>
        <p:nvSpPr>
          <p:cNvPr id="5" name="Slide Number Placeholder 3"/>
          <p:cNvSpPr>
            <a:spLocks noGrp="1"/>
          </p:cNvSpPr>
          <p:nvPr>
            <p:ph type="sldNum" sz="quarter" idx="12"/>
          </p:nvPr>
        </p:nvSpPr>
        <p:spPr>
          <a:xfrm>
            <a:off x="8279295" y="6251713"/>
            <a:ext cx="367747" cy="308113"/>
          </a:xfrm>
        </p:spPr>
        <p:txBody>
          <a:bodyPr/>
          <a:lstStyle/>
          <a:p>
            <a:pPr marL="0" lvl="0" indent="0" algn="r" rtl="0">
              <a:spcBef>
                <a:spcPts val="0"/>
              </a:spcBef>
              <a:spcAft>
                <a:spcPts val="0"/>
              </a:spcAft>
              <a:buNone/>
            </a:pPr>
            <a:r>
              <a:rPr lang="en-US" dirty="0"/>
              <a:t>35</a:t>
            </a:r>
          </a:p>
        </p:txBody>
      </p:sp>
      <p:sp>
        <p:nvSpPr>
          <p:cNvPr id="6" name="TextBox 5">
            <a:extLst>
              <a:ext uri="{FF2B5EF4-FFF2-40B4-BE49-F238E27FC236}">
                <a16:creationId xmlns:a16="http://schemas.microsoft.com/office/drawing/2014/main" id="{672CF468-E9E2-37B8-0BF4-5B51BF284247}"/>
              </a:ext>
            </a:extLst>
          </p:cNvPr>
          <p:cNvSpPr txBox="1"/>
          <p:nvPr/>
        </p:nvSpPr>
        <p:spPr>
          <a:xfrm>
            <a:off x="1124607" y="1446468"/>
            <a:ext cx="6842234" cy="4278094"/>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The following table presents the major evaluation metrics used to assess the model. These metrics were calculated on the complete test dataset. </a:t>
            </a:r>
          </a:p>
          <a:p>
            <a:r>
              <a:rPr lang="en-US" sz="1600" b="1" dirty="0">
                <a:latin typeface="Times New Roman" panose="02020603050405020304" pitchFamily="18" charset="0"/>
                <a:cs typeface="Times New Roman" panose="02020603050405020304" pitchFamily="18" charset="0"/>
              </a:rPr>
              <a:t>Table 5.1 – Performance Metrics of the </a:t>
            </a:r>
            <a:r>
              <a:rPr lang="en-US" sz="1600" b="1" dirty="0" err="1">
                <a:latin typeface="Times New Roman" panose="02020603050405020304" pitchFamily="18" charset="0"/>
                <a:cs typeface="Times New Roman" panose="02020603050405020304" pitchFamily="18" charset="0"/>
              </a:rPr>
              <a:t>DeepFake</a:t>
            </a:r>
            <a:r>
              <a:rPr lang="en-US" sz="1600" b="1" dirty="0">
                <a:latin typeface="Times New Roman" panose="02020603050405020304" pitchFamily="18" charset="0"/>
                <a:cs typeface="Times New Roman" panose="02020603050405020304" pitchFamily="18" charset="0"/>
              </a:rPr>
              <a:t> Detection Model </a:t>
            </a:r>
          </a:p>
          <a:p>
            <a:r>
              <a:rPr lang="en-US" sz="1600" b="1" dirty="0">
                <a:latin typeface="Times New Roman" panose="02020603050405020304" pitchFamily="18" charset="0"/>
                <a:cs typeface="Times New Roman" panose="02020603050405020304" pitchFamily="18" charset="0"/>
              </a:rPr>
              <a:t>Metric 			Value (%)</a:t>
            </a:r>
          </a:p>
          <a:p>
            <a:r>
              <a:rPr lang="en-US" sz="1600" dirty="0">
                <a:latin typeface="Times New Roman" panose="02020603050405020304" pitchFamily="18" charset="0"/>
                <a:cs typeface="Times New Roman" panose="02020603050405020304" pitchFamily="18" charset="0"/>
              </a:rPr>
              <a:t> Accuracy 			94.82% </a:t>
            </a:r>
          </a:p>
          <a:p>
            <a:r>
              <a:rPr lang="en-US" sz="1600" dirty="0">
                <a:latin typeface="Times New Roman" panose="02020603050405020304" pitchFamily="18" charset="0"/>
                <a:cs typeface="Times New Roman" panose="02020603050405020304" pitchFamily="18" charset="0"/>
              </a:rPr>
              <a:t>Precision 			93.64% </a:t>
            </a:r>
          </a:p>
          <a:p>
            <a:r>
              <a:rPr lang="en-US" sz="1600" dirty="0">
                <a:latin typeface="Times New Roman" panose="02020603050405020304" pitchFamily="18" charset="0"/>
                <a:cs typeface="Times New Roman" panose="02020603050405020304" pitchFamily="18" charset="0"/>
              </a:rPr>
              <a:t>Recall 			95.20% </a:t>
            </a:r>
          </a:p>
          <a:p>
            <a:r>
              <a:rPr lang="en-US" sz="1600" dirty="0">
                <a:latin typeface="Times New Roman" panose="02020603050405020304" pitchFamily="18" charset="0"/>
                <a:cs typeface="Times New Roman" panose="02020603050405020304" pitchFamily="18" charset="0"/>
              </a:rPr>
              <a:t>F1-Score 			94.41% </a:t>
            </a:r>
          </a:p>
          <a:p>
            <a:r>
              <a:rPr lang="en-US" sz="1600" dirty="0">
                <a:latin typeface="Times New Roman" panose="02020603050405020304" pitchFamily="18" charset="0"/>
                <a:cs typeface="Times New Roman" panose="02020603050405020304" pitchFamily="18" charset="0"/>
              </a:rPr>
              <a:t>False Positive Rate     4.8% </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Metric 				Value (%)</a:t>
            </a:r>
          </a:p>
          <a:p>
            <a:r>
              <a:rPr lang="en-US" sz="1600" dirty="0">
                <a:latin typeface="Times New Roman" panose="02020603050405020304" pitchFamily="18" charset="0"/>
                <a:cs typeface="Times New Roman" panose="02020603050405020304" pitchFamily="18" charset="0"/>
              </a:rPr>
              <a:t> False Negative Rate 		5.1% </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These results indicate that the model not only detects most fake images correctly (high recall) but also produces very few incorrect classifications (low false rates). The F1-score above 94% further confirms that the model maintains a strong balance between precision and recall. </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9499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258967" y="6108173"/>
            <a:ext cx="427833" cy="365125"/>
          </a:xfrm>
        </p:spPr>
        <p:txBody>
          <a:bodyPr/>
          <a:lstStyle/>
          <a:p>
            <a:pPr marL="0" lvl="0" indent="0" algn="r" rtl="0">
              <a:spcBef>
                <a:spcPts val="0"/>
              </a:spcBef>
              <a:spcAft>
                <a:spcPts val="0"/>
              </a:spcAft>
              <a:buNone/>
            </a:pPr>
            <a:r>
              <a:rPr lang="en-US" dirty="0"/>
              <a:t>36</a:t>
            </a:r>
          </a:p>
        </p:txBody>
      </p:sp>
      <p:sp>
        <p:nvSpPr>
          <p:cNvPr id="8" name="Title 7">
            <a:extLst>
              <a:ext uri="{FF2B5EF4-FFF2-40B4-BE49-F238E27FC236}">
                <a16:creationId xmlns:a16="http://schemas.microsoft.com/office/drawing/2014/main" id="{F4CF7227-01B3-6A6C-1CDE-2868742A9E57}"/>
              </a:ext>
            </a:extLst>
          </p:cNvPr>
          <p:cNvSpPr>
            <a:spLocks noGrp="1"/>
          </p:cNvSpPr>
          <p:nvPr>
            <p:ph type="title"/>
          </p:nvPr>
        </p:nvSpPr>
        <p:spPr>
          <a:xfrm>
            <a:off x="982133" y="1192924"/>
            <a:ext cx="7704667" cy="5071242"/>
          </a:xfrm>
        </p:spPr>
        <p:txBody>
          <a:bodyPr>
            <a:noAutofit/>
          </a:bodyPr>
          <a:lstStyle/>
          <a:p>
            <a:pPr algn="l"/>
            <a:r>
              <a:rPr lang="en-US" sz="1800" dirty="0">
                <a:latin typeface="Times New Roman" panose="02020603050405020304" pitchFamily="18" charset="0"/>
                <a:cs typeface="Times New Roman" panose="02020603050405020304" pitchFamily="18" charset="0"/>
              </a:rPr>
              <a:t>Confusion Matrix The confusion matrix highlights how many real and fake images were classified correctly. </a:t>
            </a: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Table 5.2 – Confusion Matrix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Predicted Real 	Predicted Fake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Actual Real 		482 			26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Actual Fake 		31 			491 </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From the confusion matrix, we observe that: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Most real images are correctly identified.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Very few fake images are misclassified as real.</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The model shows balanced behavior on both classes. </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ROC Curve (Description)</a:t>
            </a:r>
            <a:br>
              <a:rPr lang="en-US" sz="1800" b="1"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Although the RO	C curve cannot be shown graphically here, the curve trends close to the top-left corner, indicating strong classifier capability. The Area Under the Curve (AUC) was recorded at 0.97, demonstrating excellent separability between real and fake images.</a:t>
            </a:r>
            <a:endParaRPr lang="en-IN" sz="18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711856B-C89F-F3AF-9737-15F8FE980778}"/>
              </a:ext>
            </a:extLst>
          </p:cNvPr>
          <p:cNvSpPr txBox="1"/>
          <p:nvPr/>
        </p:nvSpPr>
        <p:spPr>
          <a:xfrm>
            <a:off x="3174124" y="367861"/>
            <a:ext cx="3289738" cy="553998"/>
          </a:xfrm>
          <a:prstGeom prst="rect">
            <a:avLst/>
          </a:prstGeom>
          <a:noFill/>
        </p:spPr>
        <p:txBody>
          <a:bodyPr wrap="square" rtlCol="0">
            <a:spAutoFit/>
          </a:bodyPr>
          <a:lstStyle/>
          <a:p>
            <a:r>
              <a:rPr lang="en-IN" sz="3000" b="1" dirty="0">
                <a:latin typeface="Times New Roman" panose="02020603050405020304" pitchFamily="18" charset="0"/>
                <a:cs typeface="Times New Roman" panose="02020603050405020304" pitchFamily="18" charset="0"/>
              </a:rPr>
              <a:t>Confusion Matrix</a:t>
            </a:r>
          </a:p>
        </p:txBody>
      </p:sp>
    </p:spTree>
    <p:extLst>
      <p:ext uri="{BB962C8B-B14F-4D97-AF65-F5344CB8AC3E}">
        <p14:creationId xmlns:p14="http://schemas.microsoft.com/office/powerpoint/2010/main" val="3156983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29"/>
          <p:cNvSpPr txBox="1">
            <a:spLocks noGrp="1"/>
          </p:cNvSpPr>
          <p:nvPr>
            <p:ph type="title"/>
          </p:nvPr>
        </p:nvSpPr>
        <p:spPr>
          <a:xfrm>
            <a:off x="768216" y="25337"/>
            <a:ext cx="7704667" cy="902676"/>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onstantia"/>
              <a:buNone/>
            </a:pPr>
            <a:r>
              <a:rPr lang="en-US" sz="2800" b="1" dirty="0">
                <a:latin typeface="Times New Roman" panose="02020603050405020304" pitchFamily="18" charset="0"/>
                <a:cs typeface="Times New Roman" panose="02020603050405020304" pitchFamily="18" charset="0"/>
              </a:rPr>
              <a:t>References</a:t>
            </a:r>
            <a:endParaRPr sz="2800" b="1" dirty="0">
              <a:latin typeface="Times New Roman" panose="02020603050405020304" pitchFamily="18" charset="0"/>
              <a:cs typeface="Times New Roman" panose="02020603050405020304" pitchFamily="18" charset="0"/>
            </a:endParaRPr>
          </a:p>
        </p:txBody>
      </p:sp>
      <p:sp>
        <p:nvSpPr>
          <p:cNvPr id="343" name="Google Shape;343;p2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000000"/>
                </a:solidFill>
              </a:rPr>
              <a:t>17</a:t>
            </a:fld>
            <a:endParaRPr dirty="0">
              <a:solidFill>
                <a:srgbClr val="000000"/>
              </a:solidFill>
            </a:endParaRPr>
          </a:p>
        </p:txBody>
      </p:sp>
      <p:pic>
        <p:nvPicPr>
          <p:cNvPr id="344" name="Google Shape;344;p29"/>
          <p:cNvPicPr preferRelativeResize="0"/>
          <p:nvPr/>
        </p:nvPicPr>
        <p:blipFill rotWithShape="1">
          <a:blip r:embed="rId3">
            <a:alphaModFix/>
          </a:blip>
          <a:srcRect/>
          <a:stretch/>
        </p:blipFill>
        <p:spPr>
          <a:xfrm>
            <a:off x="7652900" y="301924"/>
            <a:ext cx="851975" cy="622300"/>
          </a:xfrm>
          <a:prstGeom prst="rect">
            <a:avLst/>
          </a:prstGeom>
          <a:noFill/>
          <a:ln>
            <a:noFill/>
          </a:ln>
        </p:spPr>
      </p:pic>
      <p:sp>
        <p:nvSpPr>
          <p:cNvPr id="3" name="Content Placeholder 2">
            <a:extLst>
              <a:ext uri="{FF2B5EF4-FFF2-40B4-BE49-F238E27FC236}">
                <a16:creationId xmlns:a16="http://schemas.microsoft.com/office/drawing/2014/main" id="{645EB7DB-C272-241F-FE59-CA72CD0E0856}"/>
              </a:ext>
            </a:extLst>
          </p:cNvPr>
          <p:cNvSpPr>
            <a:spLocks noGrp="1"/>
          </p:cNvSpPr>
          <p:nvPr>
            <p:ph idx="1"/>
          </p:nvPr>
        </p:nvSpPr>
        <p:spPr>
          <a:xfrm>
            <a:off x="982133" y="613074"/>
            <a:ext cx="7704667" cy="5661602"/>
          </a:xfrm>
        </p:spPr>
        <p:txBody>
          <a:bodyPr>
            <a:normAutofit/>
          </a:bodyPr>
          <a:lstStyle/>
          <a:p>
            <a:r>
              <a:rPr lang="en-IN" sz="1600" dirty="0">
                <a:latin typeface="Times New Roman" panose="02020603050405020304" pitchFamily="18" charset="0"/>
                <a:cs typeface="Times New Roman" panose="02020603050405020304" pitchFamily="18" charset="0"/>
              </a:rPr>
              <a:t>[1] K. Suzuki, “A review of computer-aided diagnosis in lung cancer and challenges ahead,” Journal of Medical Imaging, vol. 4, no. 2, pp. 1–13, 2017.</a:t>
            </a:r>
          </a:p>
          <a:p>
            <a:r>
              <a:rPr lang="en-IN" sz="1600" dirty="0">
                <a:latin typeface="Times New Roman" panose="02020603050405020304" pitchFamily="18" charset="0"/>
                <a:cs typeface="Times New Roman" panose="02020603050405020304" pitchFamily="18" charset="0"/>
              </a:rPr>
              <a:t> [2] S. Sharma and R. Aggarwal, “Deep learning-based lung </a:t>
            </a:r>
            <a:r>
              <a:rPr lang="en-IN" sz="1600" dirty="0" err="1">
                <a:latin typeface="Times New Roman" panose="02020603050405020304" pitchFamily="18" charset="0"/>
                <a:cs typeface="Times New Roman" panose="02020603050405020304" pitchFamily="18" charset="0"/>
              </a:rPr>
              <a:t>tumor</a:t>
            </a:r>
            <a:r>
              <a:rPr lang="en-IN" sz="1600" dirty="0">
                <a:latin typeface="Times New Roman" panose="02020603050405020304" pitchFamily="18" charset="0"/>
                <a:cs typeface="Times New Roman" panose="02020603050405020304" pitchFamily="18" charset="0"/>
              </a:rPr>
              <a:t> analysis using CT imaging,” IEEE Access, vol. 8, pp. 117 132–117 146, 2020. </a:t>
            </a:r>
          </a:p>
          <a:p>
            <a:r>
              <a:rPr lang="en-IN" sz="1600" dirty="0">
                <a:latin typeface="Times New Roman" panose="02020603050405020304" pitchFamily="18" charset="0"/>
                <a:cs typeface="Times New Roman" panose="02020603050405020304" pitchFamily="18" charset="0"/>
              </a:rPr>
              <a:t>[3] M. </a:t>
            </a:r>
            <a:r>
              <a:rPr lang="en-IN" sz="1600" dirty="0" err="1">
                <a:latin typeface="Times New Roman" panose="02020603050405020304" pitchFamily="18" charset="0"/>
                <a:cs typeface="Times New Roman" panose="02020603050405020304" pitchFamily="18" charset="0"/>
              </a:rPr>
              <a:t>Anthimopoulos</a:t>
            </a:r>
            <a:r>
              <a:rPr lang="en-IN" sz="1600" dirty="0">
                <a:latin typeface="Times New Roman" panose="02020603050405020304" pitchFamily="18" charset="0"/>
                <a:cs typeface="Times New Roman" panose="02020603050405020304" pitchFamily="18" charset="0"/>
              </a:rPr>
              <a:t> et al., “Lung pattern classification for interstitial lung diseases using deep convolutional neural networks,” IEEE Transactions on Medical Imaging, vol. 35, no. 5, pp. 1207–1216, 2016. </a:t>
            </a:r>
          </a:p>
          <a:p>
            <a:r>
              <a:rPr lang="en-IN" sz="1600" dirty="0">
                <a:latin typeface="Times New Roman" panose="02020603050405020304" pitchFamily="18" charset="0"/>
                <a:cs typeface="Times New Roman" panose="02020603050405020304" pitchFamily="18" charset="0"/>
              </a:rPr>
              <a:t>[4] A. </a:t>
            </a:r>
            <a:r>
              <a:rPr lang="en-IN" sz="1600" dirty="0" err="1">
                <a:latin typeface="Times New Roman" panose="02020603050405020304" pitchFamily="18" charset="0"/>
                <a:cs typeface="Times New Roman" panose="02020603050405020304" pitchFamily="18" charset="0"/>
              </a:rPr>
              <a:t>Krizhevsky</a:t>
            </a:r>
            <a:r>
              <a:rPr lang="en-IN" sz="1600" dirty="0">
                <a:latin typeface="Times New Roman" panose="02020603050405020304" pitchFamily="18" charset="0"/>
                <a:cs typeface="Times New Roman" panose="02020603050405020304" pitchFamily="18" charset="0"/>
              </a:rPr>
              <a:t>, I. </a:t>
            </a:r>
            <a:r>
              <a:rPr lang="en-IN" sz="1600" dirty="0" err="1">
                <a:latin typeface="Times New Roman" panose="02020603050405020304" pitchFamily="18" charset="0"/>
                <a:cs typeface="Times New Roman" panose="02020603050405020304" pitchFamily="18" charset="0"/>
              </a:rPr>
              <a:t>Sutskever</a:t>
            </a:r>
            <a:r>
              <a:rPr lang="en-IN" sz="1600" dirty="0">
                <a:latin typeface="Times New Roman" panose="02020603050405020304" pitchFamily="18" charset="0"/>
                <a:cs typeface="Times New Roman" panose="02020603050405020304" pitchFamily="18" charset="0"/>
              </a:rPr>
              <a:t>, and G. Hinton, “ImageNet classification with deep convolutional neural networks,” NIPS, pp. 1097–1105, 2012.</a:t>
            </a:r>
          </a:p>
          <a:p>
            <a:r>
              <a:rPr lang="en-IN" sz="1600" dirty="0">
                <a:latin typeface="Times New Roman" panose="02020603050405020304" pitchFamily="18" charset="0"/>
                <a:cs typeface="Times New Roman" panose="02020603050405020304" pitchFamily="18" charset="0"/>
              </a:rPr>
              <a:t> [5] S. Jaiswal and P. Singh, “A hybrid machine learning framework for accurate lung cancer detection,” Procedia Computer Science, vol. 167, pp. 2611–2620, 2020. </a:t>
            </a:r>
          </a:p>
          <a:p>
            <a:r>
              <a:rPr lang="en-IN" sz="1600" dirty="0">
                <a:latin typeface="Times New Roman" panose="02020603050405020304" pitchFamily="18" charset="0"/>
                <a:cs typeface="Times New Roman" panose="02020603050405020304" pitchFamily="18" charset="0"/>
              </a:rPr>
              <a:t>[6] L. Wang, Z. Zhao, and H. Li, “U-Net-based lung </a:t>
            </a:r>
            <a:r>
              <a:rPr lang="en-IN" sz="1600" dirty="0" err="1">
                <a:latin typeface="Times New Roman" panose="02020603050405020304" pitchFamily="18" charset="0"/>
                <a:cs typeface="Times New Roman" panose="02020603050405020304" pitchFamily="18" charset="0"/>
              </a:rPr>
              <a:t>tumor</a:t>
            </a:r>
            <a:r>
              <a:rPr lang="en-IN" sz="1600" dirty="0">
                <a:latin typeface="Times New Roman" panose="02020603050405020304" pitchFamily="18" charset="0"/>
                <a:cs typeface="Times New Roman" panose="02020603050405020304" pitchFamily="18" charset="0"/>
              </a:rPr>
              <a:t> segmentation for radiomics analysis,” Medical Physics, vol. 47, no. 9, pp. 4124–4135, 2020.</a:t>
            </a:r>
          </a:p>
          <a:p>
            <a:r>
              <a:rPr lang="en-IN" sz="1600" dirty="0">
                <a:latin typeface="Times New Roman" panose="02020603050405020304" pitchFamily="18" charset="0"/>
                <a:cs typeface="Times New Roman" panose="02020603050405020304" pitchFamily="18" charset="0"/>
              </a:rPr>
              <a:t> [7] X. Zhao et al., “A multi-scale attention framework for lung nodule malignancy prediction,” Knowledge-Based Systems, vol. 196, p. 105 799, 2020. </a:t>
            </a:r>
          </a:p>
          <a:p>
            <a:r>
              <a:rPr lang="en-IN" sz="1600" dirty="0">
                <a:latin typeface="Times New Roman" panose="02020603050405020304" pitchFamily="18" charset="0"/>
                <a:cs typeface="Times New Roman" panose="02020603050405020304" pitchFamily="18" charset="0"/>
              </a:rPr>
              <a:t>[8] K. He, X. Zhang, S. Ren, and J. Sun, “Deep residual learning for image recognition,” IEEE CVPR, pp. 770–778, 2016.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29"/>
          <p:cNvSpPr txBox="1">
            <a:spLocks noGrp="1"/>
          </p:cNvSpPr>
          <p:nvPr>
            <p:ph type="title"/>
          </p:nvPr>
        </p:nvSpPr>
        <p:spPr>
          <a:xfrm>
            <a:off x="768216" y="25337"/>
            <a:ext cx="7704667" cy="902676"/>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onstantia"/>
              <a:buNone/>
            </a:pPr>
            <a:r>
              <a:rPr lang="en-US" sz="2800" b="1" dirty="0">
                <a:latin typeface="Times New Roman" panose="02020603050405020304" pitchFamily="18" charset="0"/>
                <a:cs typeface="Times New Roman" panose="02020603050405020304" pitchFamily="18" charset="0"/>
              </a:rPr>
              <a:t>References</a:t>
            </a:r>
            <a:endParaRPr sz="2800" b="1" dirty="0">
              <a:latin typeface="Times New Roman" panose="02020603050405020304" pitchFamily="18" charset="0"/>
              <a:cs typeface="Times New Roman" panose="02020603050405020304" pitchFamily="18" charset="0"/>
            </a:endParaRPr>
          </a:p>
        </p:txBody>
      </p:sp>
      <p:sp>
        <p:nvSpPr>
          <p:cNvPr id="343" name="Google Shape;343;p2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000000"/>
                </a:solidFill>
              </a:rPr>
              <a:t>18</a:t>
            </a:fld>
            <a:endParaRPr dirty="0">
              <a:solidFill>
                <a:srgbClr val="000000"/>
              </a:solidFill>
            </a:endParaRPr>
          </a:p>
        </p:txBody>
      </p:sp>
      <p:pic>
        <p:nvPicPr>
          <p:cNvPr id="344" name="Google Shape;344;p29"/>
          <p:cNvPicPr preferRelativeResize="0"/>
          <p:nvPr/>
        </p:nvPicPr>
        <p:blipFill rotWithShape="1">
          <a:blip r:embed="rId3">
            <a:alphaModFix/>
          </a:blip>
          <a:srcRect/>
          <a:stretch/>
        </p:blipFill>
        <p:spPr>
          <a:xfrm>
            <a:off x="7622575" y="476675"/>
            <a:ext cx="851975" cy="622300"/>
          </a:xfrm>
          <a:prstGeom prst="rect">
            <a:avLst/>
          </a:prstGeom>
          <a:noFill/>
          <a:ln>
            <a:noFill/>
          </a:ln>
        </p:spPr>
      </p:pic>
      <p:sp>
        <p:nvSpPr>
          <p:cNvPr id="3" name="Content Placeholder 2">
            <a:extLst>
              <a:ext uri="{FF2B5EF4-FFF2-40B4-BE49-F238E27FC236}">
                <a16:creationId xmlns:a16="http://schemas.microsoft.com/office/drawing/2014/main" id="{592EE2D3-DBBA-9025-B744-3C1E7FE1F4EA}"/>
              </a:ext>
            </a:extLst>
          </p:cNvPr>
          <p:cNvSpPr>
            <a:spLocks noGrp="1"/>
          </p:cNvSpPr>
          <p:nvPr>
            <p:ph idx="1"/>
          </p:nvPr>
        </p:nvSpPr>
        <p:spPr>
          <a:xfrm>
            <a:off x="982133" y="1292772"/>
            <a:ext cx="7704667" cy="4707043"/>
          </a:xfrm>
        </p:spPr>
        <p:txBody>
          <a:bodyPr>
            <a:noAutofit/>
          </a:bodyPr>
          <a:lstStyle/>
          <a:p>
            <a:r>
              <a:rPr lang="en-IN" sz="1600" dirty="0">
                <a:latin typeface="Times New Roman" panose="02020603050405020304" pitchFamily="18" charset="0"/>
                <a:cs typeface="Times New Roman" panose="02020603050405020304" pitchFamily="18" charset="0"/>
              </a:rPr>
              <a:t>[9] A. </a:t>
            </a:r>
            <a:r>
              <a:rPr lang="en-IN" sz="1600" dirty="0" err="1">
                <a:latin typeface="Times New Roman" panose="02020603050405020304" pitchFamily="18" charset="0"/>
                <a:cs typeface="Times New Roman" panose="02020603050405020304" pitchFamily="18" charset="0"/>
              </a:rPr>
              <a:t>Setio</a:t>
            </a:r>
            <a:r>
              <a:rPr lang="en-IN" sz="1600" dirty="0">
                <a:latin typeface="Times New Roman" panose="02020603050405020304" pitchFamily="18" charset="0"/>
                <a:cs typeface="Times New Roman" panose="02020603050405020304" pitchFamily="18" charset="0"/>
              </a:rPr>
              <a:t> et al., “Pulmonary nodule detection in CT scans using multi-view convolutional networks,” IEEE Transactions on Medical Imaging, vol. 35, no. 5, pp. 1160–1169, 2016. </a:t>
            </a:r>
          </a:p>
          <a:p>
            <a:r>
              <a:rPr lang="en-IN" sz="1600" dirty="0">
                <a:latin typeface="Times New Roman" panose="02020603050405020304" pitchFamily="18" charset="0"/>
                <a:cs typeface="Times New Roman" panose="02020603050405020304" pitchFamily="18" charset="0"/>
              </a:rPr>
              <a:t>[10] G. </a:t>
            </a:r>
            <a:r>
              <a:rPr lang="en-IN" sz="1600" dirty="0" err="1">
                <a:latin typeface="Times New Roman" panose="02020603050405020304" pitchFamily="18" charset="0"/>
                <a:cs typeface="Times New Roman" panose="02020603050405020304" pitchFamily="18" charset="0"/>
              </a:rPr>
              <a:t>Litjens</a:t>
            </a:r>
            <a:r>
              <a:rPr lang="en-IN" sz="1600" dirty="0">
                <a:latin typeface="Times New Roman" panose="02020603050405020304" pitchFamily="18" charset="0"/>
                <a:cs typeface="Times New Roman" panose="02020603050405020304" pitchFamily="18" charset="0"/>
              </a:rPr>
              <a:t> et al., “A survey on deep learning in medical image analysis,” Medical Image Analysis, vol. 42, pp. 60–88, 2017. </a:t>
            </a:r>
          </a:p>
          <a:p>
            <a:r>
              <a:rPr lang="en-IN" sz="1600" dirty="0">
                <a:latin typeface="Times New Roman" panose="02020603050405020304" pitchFamily="18" charset="0"/>
                <a:cs typeface="Times New Roman" panose="02020603050405020304" pitchFamily="18" charset="0"/>
              </a:rPr>
              <a:t>[11] C. Shen et al., “Automated pulmonary nodule detection using 3D CNN with cross channel features,” Computers in Biology and Medicine, vol. 103, pp. 30–39, 2018. </a:t>
            </a:r>
          </a:p>
          <a:p>
            <a:r>
              <a:rPr lang="en-IN" sz="1600" dirty="0">
                <a:latin typeface="Times New Roman" panose="02020603050405020304" pitchFamily="18" charset="0"/>
                <a:cs typeface="Times New Roman" panose="02020603050405020304" pitchFamily="18" charset="0"/>
              </a:rPr>
              <a:t>[12] Y. Yuan, L. Chao, and X. Luo, “Improved segmentation of lung </a:t>
            </a:r>
            <a:r>
              <a:rPr lang="en-IN" sz="1600" dirty="0" err="1">
                <a:latin typeface="Times New Roman" panose="02020603050405020304" pitchFamily="18" charset="0"/>
                <a:cs typeface="Times New Roman" panose="02020603050405020304" pitchFamily="18" charset="0"/>
              </a:rPr>
              <a:t>tumors</a:t>
            </a:r>
            <a:r>
              <a:rPr lang="en-IN" sz="1600" dirty="0">
                <a:latin typeface="Times New Roman" panose="02020603050405020304" pitchFamily="18" charset="0"/>
                <a:cs typeface="Times New Roman" panose="02020603050405020304" pitchFamily="18" charset="0"/>
              </a:rPr>
              <a:t> using active contour models with deep learning initialization,” Pattern Recognition Letters, vol. 126, pp. 1–7, 2019.</a:t>
            </a:r>
          </a:p>
          <a:p>
            <a:r>
              <a:rPr lang="en-IN" sz="1600" dirty="0">
                <a:latin typeface="Times New Roman" panose="02020603050405020304" pitchFamily="18" charset="0"/>
                <a:cs typeface="Times New Roman" panose="02020603050405020304" pitchFamily="18" charset="0"/>
              </a:rPr>
              <a:t> [13] S. Wang, M. Zhou, and Z. Liu, “Central focused CNN for pathologic lung segmentation,” IEEE Transactions on Medical Imaging, vol. 37, no. 5, pp. 1139–1150, 2018.</a:t>
            </a:r>
          </a:p>
          <a:p>
            <a:r>
              <a:rPr lang="en-IN" sz="1600" dirty="0">
                <a:latin typeface="Times New Roman" panose="02020603050405020304" pitchFamily="18" charset="0"/>
                <a:cs typeface="Times New Roman" panose="02020603050405020304" pitchFamily="18" charset="0"/>
              </a:rPr>
              <a:t> [14] T. Tan et al., “Machine learning techniques for lung cancer prognosis using CT radiomics,” Artificial Intelligence in Medicine, vol. 98, pp. 101–114, 2019. </a:t>
            </a:r>
          </a:p>
          <a:p>
            <a:r>
              <a:rPr lang="en-IN" sz="1600" dirty="0">
                <a:latin typeface="Times New Roman" panose="02020603050405020304" pitchFamily="18" charset="0"/>
                <a:cs typeface="Times New Roman" panose="02020603050405020304" pitchFamily="18" charset="0"/>
              </a:rPr>
              <a:t>[15] F. </a:t>
            </a:r>
            <a:r>
              <a:rPr lang="en-IN" sz="1600" dirty="0" err="1">
                <a:latin typeface="Times New Roman" panose="02020603050405020304" pitchFamily="18" charset="0"/>
                <a:cs typeface="Times New Roman" panose="02020603050405020304" pitchFamily="18" charset="0"/>
              </a:rPr>
              <a:t>Ciompi</a:t>
            </a:r>
            <a:r>
              <a:rPr lang="en-IN" sz="1600" dirty="0">
                <a:latin typeface="Times New Roman" panose="02020603050405020304" pitchFamily="18" charset="0"/>
                <a:cs typeface="Times New Roman" panose="02020603050405020304" pitchFamily="18" charset="0"/>
              </a:rPr>
              <a:t> et al., “Towards automatic pulmonary nodule management in lung cancer screening using deep learning,” Scientific Reports, vol. 7, pp. 1–10, 2017.</a:t>
            </a:r>
          </a:p>
        </p:txBody>
      </p:sp>
    </p:spTree>
    <p:extLst>
      <p:ext uri="{BB962C8B-B14F-4D97-AF65-F5344CB8AC3E}">
        <p14:creationId xmlns:p14="http://schemas.microsoft.com/office/powerpoint/2010/main" val="19657023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35"/>
          <p:cNvSpPr txBox="1">
            <a:spLocks noGrp="1"/>
          </p:cNvSpPr>
          <p:nvPr>
            <p:ph idx="1"/>
          </p:nvPr>
        </p:nvSpPr>
        <p:spPr>
          <a:xfrm>
            <a:off x="671900" y="602400"/>
            <a:ext cx="7738500" cy="51435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2040"/>
              <a:buNone/>
            </a:pPr>
            <a:endParaRPr b="1" dirty="0"/>
          </a:p>
          <a:p>
            <a:pPr marL="0" lvl="0" indent="0" algn="ctr" rtl="0">
              <a:spcBef>
                <a:spcPts val="480"/>
              </a:spcBef>
              <a:spcAft>
                <a:spcPts val="0"/>
              </a:spcAft>
              <a:buSzPts val="2040"/>
              <a:buNone/>
            </a:pPr>
            <a:endParaRPr b="1" dirty="0"/>
          </a:p>
          <a:p>
            <a:pPr marL="0" lvl="0" indent="0" algn="ctr" rtl="0">
              <a:spcBef>
                <a:spcPts val="480"/>
              </a:spcBef>
              <a:spcAft>
                <a:spcPts val="0"/>
              </a:spcAft>
              <a:buSzPts val="2040"/>
              <a:buNone/>
            </a:pPr>
            <a:endParaRPr b="1" dirty="0"/>
          </a:p>
          <a:p>
            <a:pPr marL="0" lvl="0" indent="0" algn="ctr" rtl="0">
              <a:spcBef>
                <a:spcPts val="800"/>
              </a:spcBef>
              <a:spcAft>
                <a:spcPts val="0"/>
              </a:spcAft>
              <a:buSzPts val="3400"/>
              <a:buNone/>
            </a:pPr>
            <a:endParaRPr sz="4000" b="1" dirty="0"/>
          </a:p>
          <a:p>
            <a:pPr marL="0" lvl="0" indent="0" algn="ctr" rtl="0">
              <a:spcBef>
                <a:spcPts val="800"/>
              </a:spcBef>
              <a:spcAft>
                <a:spcPts val="0"/>
              </a:spcAft>
              <a:buSzPts val="3400"/>
              <a:buNone/>
            </a:pPr>
            <a:r>
              <a:rPr lang="en-US" sz="4000" b="1" dirty="0">
                <a:solidFill>
                  <a:schemeClr val="dk1"/>
                </a:solidFill>
              </a:rPr>
              <a:t>THANK YOU</a:t>
            </a:r>
            <a:endParaRPr b="1" dirty="0"/>
          </a:p>
        </p:txBody>
      </p:sp>
      <p:sp>
        <p:nvSpPr>
          <p:cNvPr id="416" name="Google Shape;416;p3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000000"/>
                </a:solidFill>
              </a:rPr>
              <a:t>19</a:t>
            </a:fld>
            <a:endParaRPr dirty="0">
              <a:solidFill>
                <a:srgbClr val="000000"/>
              </a:solidFill>
            </a:endParaRPr>
          </a:p>
        </p:txBody>
      </p:sp>
      <p:pic>
        <p:nvPicPr>
          <p:cNvPr id="417" name="Google Shape;417;p35"/>
          <p:cNvPicPr preferRelativeResize="0"/>
          <p:nvPr/>
        </p:nvPicPr>
        <p:blipFill rotWithShape="1">
          <a:blip r:embed="rId3">
            <a:alphaModFix/>
          </a:blip>
          <a:srcRect/>
          <a:stretch/>
        </p:blipFill>
        <p:spPr>
          <a:xfrm>
            <a:off x="7622575" y="476675"/>
            <a:ext cx="851975" cy="622300"/>
          </a:xfrm>
          <a:prstGeom prst="rect">
            <a:avLst/>
          </a:prstGeom>
          <a:noFill/>
          <a:ln>
            <a:noFill/>
          </a:ln>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TM03457496[[fn=Parallax]]</Template>
  <TotalTime>1747</TotalTime>
  <Words>2547</Words>
  <Application>Microsoft Office PowerPoint</Application>
  <PresentationFormat>On-screen Show (4:3)</PresentationFormat>
  <Paragraphs>188</Paragraphs>
  <Slides>19</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Constantia</vt:lpstr>
      <vt:lpstr>Corbel</vt:lpstr>
      <vt:lpstr>Times New Roman</vt:lpstr>
      <vt:lpstr>Calibri</vt:lpstr>
      <vt:lpstr>Parallax</vt:lpstr>
      <vt:lpstr>DeepFake Detection </vt:lpstr>
      <vt:lpstr>OUTLINE</vt:lpstr>
      <vt:lpstr>Introduction</vt:lpstr>
      <vt:lpstr>Problem Statement</vt:lpstr>
      <vt:lpstr>Literature Survey</vt:lpstr>
      <vt:lpstr>Literature Survey</vt:lpstr>
      <vt:lpstr>Literature Survey</vt:lpstr>
      <vt:lpstr>Literature Survey</vt:lpstr>
      <vt:lpstr> Homepage &amp; Project Introduction </vt:lpstr>
      <vt:lpstr>Detection Results </vt:lpstr>
      <vt:lpstr>IMPLIMENTATION</vt:lpstr>
      <vt:lpstr>Dataset &amp; Upload Section </vt:lpstr>
      <vt:lpstr>Fig.1 The architecture of the proposed RoBERTa-GRU model</vt:lpstr>
      <vt:lpstr>Algorithm used for implementation </vt:lpstr>
      <vt:lpstr>PowerPoint Presentation</vt:lpstr>
      <vt:lpstr>Confusion Matrix The confusion matrix highlights how many real and fake images were classified correctly.  Table 5.2 – Confusion Matrix     Predicted Real  Predicted Fake  Actual Real   482    26  Actual Fake   31    491   From the confusion matrix, we observe that:  Most real images are correctly identified.  Very few fake images are misclassified as real.  The model shows balanced behavior on both classes.    ROC Curve (Description)  Although the RO C curve cannot be shown graphically here, the curve trends close to the top-left corner, indicating strong classifier capability. The Area Under the Curve (AUC) was recorded at 0.97, demonstrating excellent separability between real and fake images.</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Anomaly Detection in IoMT using Federated Learning</dc:title>
  <dc:creator>Namratha</dc:creator>
  <cp:lastModifiedBy>Vinay G M</cp:lastModifiedBy>
  <cp:revision>160</cp:revision>
  <dcterms:modified xsi:type="dcterms:W3CDTF">2025-12-12T16:40:14Z</dcterms:modified>
</cp:coreProperties>
</file>